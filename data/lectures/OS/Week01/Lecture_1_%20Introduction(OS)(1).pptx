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4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jpeg" ContentType="image/jpeg"/>
  <Override PartName="/ppt/media/image7.jpeg" ContentType="image/jpeg"/>
  <Override PartName="/ppt/media/image28.png" ContentType="image/png"/>
  <Override PartName="/ppt/media/image27.png" ContentType="image/png"/>
  <Override PartName="/ppt/media/image21.jpeg" ContentType="image/jpeg"/>
  <Override PartName="/ppt/media/image24.png" ContentType="image/png"/>
  <Override PartName="/ppt/media/image22.png" ContentType="image/png"/>
  <Override PartName="/ppt/media/image45.jpeg" ContentType="image/jpeg"/>
  <Override PartName="/ppt/media/image19.jpeg" ContentType="image/jpeg"/>
  <Override PartName="/ppt/media/image20.jpeg" ContentType="image/jpeg"/>
  <Override PartName="/ppt/media/image17.png" ContentType="image/png"/>
  <Override PartName="/ppt/media/image18.jpeg" ContentType="image/jpeg"/>
  <Override PartName="/ppt/media/image43.png" ContentType="image/png"/>
  <Override PartName="/ppt/media/image16.png" ContentType="image/png"/>
  <Override PartName="/ppt/media/image23.png" ContentType="image/png"/>
  <Override PartName="/ppt/media/image14.jpeg" ContentType="image/jpeg"/>
  <Override PartName="/ppt/media/image8.png" ContentType="image/png"/>
  <Override PartName="/ppt/media/image1.jpeg" ContentType="image/jpeg"/>
  <Override PartName="/ppt/media/image15.png" ContentType="image/png"/>
  <Override PartName="/ppt/media/image6.png" ContentType="image/png"/>
  <Override PartName="/ppt/media/image38.png" ContentType="image/png"/>
  <Override PartName="/ppt/media/image2.png" ContentType="image/png"/>
  <Override PartName="/ppt/media/image30.png" ContentType="image/png"/>
  <Override PartName="/ppt/media/image31.jpeg" ContentType="image/jpeg"/>
  <Override PartName="/ppt/media/image44.png" ContentType="image/png"/>
  <Override PartName="/ppt/media/image32.png" ContentType="image/png"/>
  <Override PartName="/ppt/media/image52.wmf" ContentType="image/x-wmf"/>
  <Override PartName="/ppt/media/image33.png" ContentType="image/png"/>
  <Override PartName="/ppt/media/image34.jpeg" ContentType="image/jpeg"/>
  <Override PartName="/ppt/media/image46.wmf" ContentType="image/x-wmf"/>
  <Override PartName="/ppt/media/image36.png" ContentType="image/png"/>
  <Override PartName="/ppt/media/image41.jpeg" ContentType="image/jpeg"/>
  <Override PartName="/ppt/media/image39.jpeg" ContentType="image/jpeg"/>
  <Override PartName="/ppt/media/image47.wmf" ContentType="image/x-wmf"/>
  <Override PartName="/ppt/media/image50.jpeg" ContentType="image/jpeg"/>
  <Override PartName="/ppt/media/image13.png" ContentType="image/png"/>
  <Override PartName="/ppt/media/image11.jpeg" ContentType="image/jpeg"/>
  <Override PartName="/ppt/media/image48.jpeg" ContentType="image/jpeg"/>
  <Override PartName="/ppt/media/image42.png" ContentType="image/png"/>
  <Override PartName="/ppt/media/image10.jpeg" ContentType="image/jpeg"/>
  <Override PartName="/ppt/media/image49.jpeg" ContentType="image/jpeg"/>
  <Override PartName="/ppt/media/image12.jpeg" ContentType="image/jpeg"/>
  <Override PartName="/ppt/media/image9.jpeg" ContentType="image/jpeg"/>
  <Override PartName="/ppt/media/image51.wmf" ContentType="image/x-wmf"/>
  <Override PartName="/ppt/media/image37.png" ContentType="image/png"/>
  <Override PartName="/ppt/media/image40.wmf" ContentType="image/x-wmf"/>
  <Override PartName="/ppt/media/image5.png" ContentType="image/png"/>
  <Override PartName="/ppt/media/image26.jpeg" ContentType="image/jpeg"/>
  <Override PartName="/ppt/media/image4.jpeg" ContentType="image/jpeg"/>
  <Override PartName="/ppt/media/image25.png" ContentType="image/png"/>
  <Override PartName="/ppt/media/image3.png" ContentType="image/png"/>
  <Override PartName="/ppt/media/image35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7009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3696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3973320" y="0"/>
            <a:ext cx="30366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976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2160" rIns="92160" tIns="46080" bIns="4608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move the slide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1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5"/>
          </p:nvPr>
        </p:nvSpPr>
        <p:spPr>
          <a:xfrm>
            <a:off x="0" y="8832600"/>
            <a:ext cx="3036960" cy="4633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6"/>
          </p:nvPr>
        </p:nvSpPr>
        <p:spPr>
          <a:xfrm>
            <a:off x="3973320" y="8832600"/>
            <a:ext cx="3036600" cy="4633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30240"/>
                <a:tab algn="l" pos="1860480"/>
                <a:tab algn="l" pos="2790720"/>
                <a:tab algn="l" pos="3720960"/>
                <a:tab algn="l" pos="4651200"/>
                <a:tab algn="l" pos="5581800"/>
                <a:tab algn="l" pos="6512040"/>
                <a:tab algn="l" pos="7442280"/>
                <a:tab algn="l" pos="8372520"/>
                <a:tab algn="l" pos="9302760"/>
                <a:tab algn="l" pos="102330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30240"/>
                <a:tab algn="l" pos="1860480"/>
                <a:tab algn="l" pos="2790720"/>
                <a:tab algn="l" pos="3720960"/>
                <a:tab algn="l" pos="4651200"/>
                <a:tab algn="l" pos="5581800"/>
                <a:tab algn="l" pos="6512040"/>
                <a:tab algn="l" pos="7442280"/>
                <a:tab algn="l" pos="8372520"/>
                <a:tab algn="l" pos="9302760"/>
                <a:tab algn="l" pos="10233000"/>
              </a:tabLst>
            </a:pPr>
            <a:fld id="{E42F4D06-FB21-4EE1-84BC-827B6C67E90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9760" cy="348624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Slide Number Placeholder 3"/>
          <p:cNvSpPr/>
          <p:nvPr/>
        </p:nvSpPr>
        <p:spPr>
          <a:xfrm>
            <a:off x="3973680" y="8832960"/>
            <a:ext cx="303660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240" rIns="93240" tIns="46440" bIns="46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30240"/>
                <a:tab algn="l" pos="1860480"/>
                <a:tab algn="l" pos="2790720"/>
                <a:tab algn="l" pos="3720960"/>
                <a:tab algn="l" pos="4651200"/>
                <a:tab algn="l" pos="5581800"/>
                <a:tab algn="l" pos="6512040"/>
                <a:tab algn="l" pos="7442280"/>
                <a:tab algn="l" pos="8372520"/>
                <a:tab algn="l" pos="9302760"/>
                <a:tab algn="l" pos="10233000"/>
              </a:tabLst>
            </a:pPr>
            <a:fld id="{D04276AB-1527-4241-B32C-B2A6938FEE8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9760" cy="348624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Slide Number Placeholder 3"/>
          <p:cNvSpPr/>
          <p:nvPr/>
        </p:nvSpPr>
        <p:spPr>
          <a:xfrm>
            <a:off x="3973680" y="8832960"/>
            <a:ext cx="303660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240" rIns="93240" tIns="46440" bIns="46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30240"/>
                <a:tab algn="l" pos="1860480"/>
                <a:tab algn="l" pos="2790720"/>
                <a:tab algn="l" pos="3720960"/>
                <a:tab algn="l" pos="4651200"/>
                <a:tab algn="l" pos="5581800"/>
                <a:tab algn="l" pos="6512040"/>
                <a:tab algn="l" pos="7442280"/>
                <a:tab algn="l" pos="8372520"/>
                <a:tab algn="l" pos="9302760"/>
                <a:tab algn="l" pos="10233000"/>
              </a:tabLst>
            </a:pPr>
            <a:fld id="{4E83E2B8-2329-4B89-8047-9CF81B08A6E9}" type="slidenum">
              <a:rPr b="0" lang="en-GB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9760" cy="348624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Slide Number Placeholder 3"/>
          <p:cNvSpPr/>
          <p:nvPr/>
        </p:nvSpPr>
        <p:spPr>
          <a:xfrm>
            <a:off x="3973680" y="8832960"/>
            <a:ext cx="303660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240" rIns="93240" tIns="46440" bIns="46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30240"/>
                <a:tab algn="l" pos="1860480"/>
                <a:tab algn="l" pos="2790720"/>
                <a:tab algn="l" pos="3720960"/>
                <a:tab algn="l" pos="4651200"/>
                <a:tab algn="l" pos="5581800"/>
                <a:tab algn="l" pos="6512040"/>
                <a:tab algn="l" pos="7442280"/>
                <a:tab algn="l" pos="8372520"/>
                <a:tab algn="l" pos="9302760"/>
                <a:tab algn="l" pos="10233000"/>
              </a:tabLst>
            </a:pPr>
            <a:fld id="{B5BD3061-350D-4A1A-B13C-64AD7DFBDF9D}" type="slidenum">
              <a:rPr b="0" lang="en-GB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spcBef>
                <a:spcPts val="788"/>
              </a:spcBef>
              <a:buClr>
                <a:srgbClr val="ffcc00"/>
              </a:buClr>
              <a:buSzPct val="75000"/>
              <a:buFont typeface="Helvetic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70120" indent="-227160">
              <a:spcBef>
                <a:spcPts val="788"/>
              </a:spcBef>
              <a:buClr>
                <a:srgbClr val="ff0066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spcBef>
                <a:spcPts val="788"/>
              </a:spcBef>
              <a:buClr>
                <a:srgbClr val="ffcc00"/>
              </a:buClr>
              <a:buSzPct val="75000"/>
              <a:buFont typeface="Helvetic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70120" indent="-227160">
              <a:spcBef>
                <a:spcPts val="788"/>
              </a:spcBef>
              <a:buClr>
                <a:srgbClr val="ff0066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spcBef>
                <a:spcPts val="788"/>
              </a:spcBef>
              <a:buClr>
                <a:srgbClr val="ffcc00"/>
              </a:buClr>
              <a:buSzPct val="75000"/>
              <a:buFont typeface="Helvetic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70120" indent="-227160">
              <a:spcBef>
                <a:spcPts val="788"/>
              </a:spcBef>
              <a:buClr>
                <a:srgbClr val="ff0066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spcBef>
                <a:spcPts val="788"/>
              </a:spcBef>
              <a:buClr>
                <a:srgbClr val="ffcc00"/>
              </a:buClr>
              <a:buSzPct val="75000"/>
              <a:buFont typeface="Helvetic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70120" indent="-227160">
              <a:spcBef>
                <a:spcPts val="788"/>
              </a:spcBef>
              <a:buClr>
                <a:srgbClr val="ff0066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spcBef>
                <a:spcPts val="788"/>
              </a:spcBef>
              <a:buClr>
                <a:srgbClr val="ffcc00"/>
              </a:buClr>
              <a:buSzPct val="75000"/>
              <a:buFont typeface="Helvetic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70120" indent="-227160">
              <a:spcBef>
                <a:spcPts val="788"/>
              </a:spcBef>
              <a:buClr>
                <a:srgbClr val="ff0066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770120" indent="-227160">
              <a:spcBef>
                <a:spcPts val="788"/>
              </a:spcBef>
              <a:buClr>
                <a:srgbClr val="000000"/>
              </a:buClr>
              <a:buSzPct val="75000"/>
              <a:buFont typeface="Helvetic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-360" y="-36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6440" bIns="-4644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-360" y="-36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6440" bIns="-4644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-360" y="-36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6440" bIns="-4644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0AB725-F6E5-4804-8A3A-22791A4CEBF6}" type="slidenum"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png"/><Relationship Id="rId7" Type="http://schemas.openxmlformats.org/officeDocument/2006/relationships/hyperlink" Target="http://images.google.com/imgres?imgurl=wetpc.com.au/html/Assets/jpg/general/WetPC1.jpg&amp;imgrefurl=http://wetpc.com.au/html/newsroom/&amp;h=2774&amp;w=1813&amp;prev=/images%3Fq%3Dwearable%2Bcomputer%26start%3D20%26svnum%3D10%26hl%3Den%26lr%3D%26ie%3DUTF-8%26oe%3DUTF-8%26sa%3DN" TargetMode="External"/><Relationship Id="rId8" Type="http://schemas.openxmlformats.org/officeDocument/2006/relationships/image" Target="../media/image14.jpe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9.jpeg"/><Relationship Id="rId14" Type="http://schemas.openxmlformats.org/officeDocument/2006/relationships/image" Target="../media/image20.jpeg"/><Relationship Id="rId15" Type="http://schemas.openxmlformats.org/officeDocument/2006/relationships/image" Target="../media/image21.jpeg"/><Relationship Id="rId16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jpeg"/><Relationship Id="rId5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0.wmf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6.wmf"/><Relationship Id="rId2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7.wmf"/><Relationship Id="rId2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image" Target="../media/image49.jpeg"/><Relationship Id="rId3" Type="http://schemas.openxmlformats.org/officeDocument/2006/relationships/image" Target="../media/image50.jpeg"/><Relationship Id="rId4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1.wmf"/><Relationship Id="rId2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2.wmf"/><Relationship Id="rId2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2"/>
          <p:cNvSpPr/>
          <p:nvPr/>
        </p:nvSpPr>
        <p:spPr>
          <a:xfrm>
            <a:off x="615960" y="4067280"/>
            <a:ext cx="8008920" cy="1922760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sng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Course Instructor</a:t>
            </a: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b="1" lang="en-US" sz="24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Times New Roman"/>
              </a:rPr>
              <a:t>Ms. Amna Sarwar Lecturer (Artificial Intelligence)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   </a:t>
            </a: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Department of Creative Technologies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Air University - Islamabad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1" name="Picture 13" descr="Text&#10;&#10;Description automatically generated"/>
          <p:cNvPicPr/>
          <p:nvPr/>
        </p:nvPicPr>
        <p:blipFill>
          <a:blip r:embed="rId1"/>
          <a:stretch/>
        </p:blipFill>
        <p:spPr>
          <a:xfrm>
            <a:off x="3048120" y="114480"/>
            <a:ext cx="4674960" cy="220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15"/>
          <p:cNvSpPr/>
          <p:nvPr/>
        </p:nvSpPr>
        <p:spPr>
          <a:xfrm>
            <a:off x="2076480" y="2936880"/>
            <a:ext cx="54673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Operating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Fall 2026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23" name="Group 7"/>
          <p:cNvGrpSpPr/>
          <p:nvPr/>
        </p:nvGrpSpPr>
        <p:grpSpPr>
          <a:xfrm>
            <a:off x="88920" y="6413400"/>
            <a:ext cx="8947080" cy="150840"/>
            <a:chOff x="88920" y="6413400"/>
            <a:chExt cx="8947080" cy="150840"/>
          </a:xfrm>
        </p:grpSpPr>
        <p:sp>
          <p:nvSpPr>
            <p:cNvPr id="24" name="Rectangle: Rounded Corners 8"/>
            <p:cNvSpPr/>
            <p:nvPr/>
          </p:nvSpPr>
          <p:spPr>
            <a:xfrm>
              <a:off x="3272760" y="6417360"/>
              <a:ext cx="2705040" cy="14688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5" name="Rectangle: Rounded Corners 9"/>
            <p:cNvSpPr/>
            <p:nvPr/>
          </p:nvSpPr>
          <p:spPr>
            <a:xfrm>
              <a:off x="5819400" y="6413400"/>
              <a:ext cx="3216600" cy="15084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6" name="Rectangle: Rounded Corners 10"/>
            <p:cNvSpPr/>
            <p:nvPr/>
          </p:nvSpPr>
          <p:spPr>
            <a:xfrm>
              <a:off x="88920" y="6413400"/>
              <a:ext cx="3216600" cy="15084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24000" y="15480"/>
            <a:ext cx="8820000" cy="996840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 lIns="91440" rIns="132120" tIns="4572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Times New Roman"/>
                <a:ea typeface="Times New Roman"/>
              </a:rPr>
              <a:t>General Course Policies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38200" y="1373040"/>
            <a:ext cx="8424720" cy="4897440"/>
          </a:xfrm>
          <a:prstGeom prst="rect">
            <a:avLst/>
          </a:prstGeom>
          <a:noFill/>
          <a:ln w="0">
            <a:noFill/>
          </a:ln>
        </p:spPr>
        <p:txBody>
          <a:bodyPr rIns="132120" anchor="t">
            <a:normAutofit/>
          </a:bodyPr>
          <a:p>
            <a:pPr algn="just">
              <a:lnSpc>
                <a:spcPct val="100000"/>
              </a:lnSpc>
              <a:spcBef>
                <a:spcPts val="10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Plagiarism of any sort will NOT be tolerated. Student will be awarded an F grade in the course if found guilty.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 makeup quiz/exam/assignment will be taken.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Quizzes will be Announced + Surprised.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 Cell phone use in the classroom or it will be taken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 coming after first </a:t>
            </a:r>
            <a:r>
              <a:rPr b="1" i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minutes will be marked absent.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You are responsible for timely and functional delivery of your project/assignment at the beginning of class on submission date. </a:t>
            </a:r>
            <a:r>
              <a:rPr b="1" i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Late assignments/projects will result in zero marks.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0" name="Group 2"/>
          <p:cNvGrpSpPr/>
          <p:nvPr/>
        </p:nvGrpSpPr>
        <p:grpSpPr>
          <a:xfrm>
            <a:off x="181080" y="33480"/>
            <a:ext cx="185760" cy="6824520"/>
            <a:chOff x="181080" y="33480"/>
            <a:chExt cx="185760" cy="6824520"/>
          </a:xfrm>
        </p:grpSpPr>
        <p:sp>
          <p:nvSpPr>
            <p:cNvPr id="31" name="Rectangle: Rounded Corners 3"/>
            <p:cNvSpPr/>
            <p:nvPr/>
          </p:nvSpPr>
          <p:spPr>
            <a:xfrm rot="5400000">
              <a:off x="-759960" y="3403440"/>
              <a:ext cx="2063160" cy="18108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2" name="Rectangle: Rounded Corners 4"/>
            <p:cNvSpPr/>
            <p:nvPr/>
          </p:nvSpPr>
          <p:spPr>
            <a:xfrm rot="5400000">
              <a:off x="-952560" y="5538240"/>
              <a:ext cx="2453400" cy="1857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3" name="Rectangle: Rounded Corners 5"/>
            <p:cNvSpPr/>
            <p:nvPr/>
          </p:nvSpPr>
          <p:spPr>
            <a:xfrm rot="5400000">
              <a:off x="-952560" y="1167120"/>
              <a:ext cx="2453400" cy="1857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Title 1" descr=""/>
          <p:cNvPicPr/>
          <p:nvPr/>
        </p:nvPicPr>
        <p:blipFill>
          <a:blip r:embed="rId1"/>
          <a:stretch/>
        </p:blipFill>
        <p:spPr>
          <a:xfrm>
            <a:off x="0" y="536400"/>
            <a:ext cx="9144000" cy="188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ectangle 3"/>
          <p:cNvSpPr/>
          <p:nvPr/>
        </p:nvSpPr>
        <p:spPr>
          <a:xfrm>
            <a:off x="295200" y="2911320"/>
            <a:ext cx="3981600" cy="1416240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algn="ctr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2060"/>
                </a:solidFill>
                <a:effectLst/>
                <a:uFillTx/>
                <a:latin typeface="Times New Roman"/>
                <a:ea typeface="Times New Roman"/>
              </a:rPr>
              <a:t>Text Book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“Operating System Concepts” by Silberschatz, Galvin, Gagne 10th Edition”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6" name="Group 4"/>
          <p:cNvGrpSpPr/>
          <p:nvPr/>
        </p:nvGrpSpPr>
        <p:grpSpPr>
          <a:xfrm>
            <a:off x="49320" y="343080"/>
            <a:ext cx="9045360" cy="195120"/>
            <a:chOff x="49320" y="343080"/>
            <a:chExt cx="9045360" cy="195120"/>
          </a:xfrm>
        </p:grpSpPr>
        <p:sp>
          <p:nvSpPr>
            <p:cNvPr id="37" name="Rectangle: Rounded Corners 5"/>
            <p:cNvSpPr/>
            <p:nvPr/>
          </p:nvSpPr>
          <p:spPr>
            <a:xfrm>
              <a:off x="3268080" y="348120"/>
              <a:ext cx="2734560" cy="19008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8" name="Rectangle: Rounded Corners 6"/>
            <p:cNvSpPr/>
            <p:nvPr/>
          </p:nvSpPr>
          <p:spPr>
            <a:xfrm>
              <a:off x="5842800" y="343080"/>
              <a:ext cx="3251880" cy="19512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9" name="Rectangle: Rounded Corners 7"/>
            <p:cNvSpPr/>
            <p:nvPr/>
          </p:nvSpPr>
          <p:spPr>
            <a:xfrm>
              <a:off x="49320" y="343080"/>
              <a:ext cx="3251880" cy="19512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pic>
        <p:nvPicPr>
          <p:cNvPr id="40" name="Picture 3" descr=""/>
          <p:cNvPicPr/>
          <p:nvPr/>
        </p:nvPicPr>
        <p:blipFill>
          <a:blip r:embed="rId2"/>
          <a:srcRect l="0" t="0" r="27492" b="0"/>
          <a:stretch/>
        </p:blipFill>
        <p:spPr>
          <a:xfrm>
            <a:off x="4390920" y="2771640"/>
            <a:ext cx="4703760" cy="262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31716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Course Outline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14040" y="1298520"/>
            <a:ext cx="7304040" cy="453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1280" indent="-341280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Overview of Operating systems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is an Operating System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Operating-System Structures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Process Management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Process Concept &amp; Process Scheduling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Threads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CPU Scheduling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Process Synchronization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Deadlocks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traight Connector 5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44" name="Group 10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45" name="Rectangle: Rounded Corners 11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46" name="Rectangle: Rounded Corners 12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47" name="Rectangle: Rounded Corners 13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Course Outline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Memory Management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5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Main Memory Management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5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Virtual Memory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Storage Management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50000"/>
              </a:lnSpc>
              <a:spcBef>
                <a:spcPts val="96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Mass Storage Systems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File Systems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Distributed Operating Systems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5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51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52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53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54" name="Straight Connector 5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Chp1: Introduction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06400" y="1233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7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is an  Operating System?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Goals of Operating system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Operating Systems Do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Computer-System Organization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Computer-System Architecture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Computer-System Structure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Operating-System Operations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Storage Management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6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Computing Environments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96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roup 1"/>
          <p:cNvGrpSpPr/>
          <p:nvPr/>
        </p:nvGrpSpPr>
        <p:grpSpPr>
          <a:xfrm>
            <a:off x="98280" y="942840"/>
            <a:ext cx="8947440" cy="150840"/>
            <a:chOff x="98280" y="942840"/>
            <a:chExt cx="8947440" cy="150840"/>
          </a:xfrm>
        </p:grpSpPr>
        <p:sp>
          <p:nvSpPr>
            <p:cNvPr id="58" name="Rectangle: Rounded Corners 2"/>
            <p:cNvSpPr/>
            <p:nvPr/>
          </p:nvSpPr>
          <p:spPr>
            <a:xfrm>
              <a:off x="3282120" y="946800"/>
              <a:ext cx="2705040" cy="14688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59" name="Rectangle: Rounded Corners 3"/>
            <p:cNvSpPr/>
            <p:nvPr/>
          </p:nvSpPr>
          <p:spPr>
            <a:xfrm>
              <a:off x="5829120" y="942840"/>
              <a:ext cx="3216600" cy="15084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60" name="Rectangle: Rounded Corners 4"/>
            <p:cNvSpPr/>
            <p:nvPr/>
          </p:nvSpPr>
          <p:spPr>
            <a:xfrm>
              <a:off x="98280" y="942840"/>
              <a:ext cx="3216600" cy="15084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1663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Objectives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31800" y="1654200"/>
            <a:ext cx="7880400" cy="3549600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 algn="just">
              <a:lnSpc>
                <a:spcPct val="100000"/>
              </a:lnSpc>
              <a:spcBef>
                <a:spcPts val="1225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describe the basic organization of computer systems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1225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provide a grand tour of the major components of operating systems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1225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give an overview of the many types of computing environments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122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1"/>
          <p:cNvGrpSpPr/>
          <p:nvPr/>
        </p:nvGrpSpPr>
        <p:grpSpPr>
          <a:xfrm>
            <a:off x="98280" y="836640"/>
            <a:ext cx="8947440" cy="152280"/>
            <a:chOff x="98280" y="836640"/>
            <a:chExt cx="8947440" cy="152280"/>
          </a:xfrm>
        </p:grpSpPr>
        <p:sp>
          <p:nvSpPr>
            <p:cNvPr id="64" name="Rectangle: Rounded Corners 2"/>
            <p:cNvSpPr/>
            <p:nvPr/>
          </p:nvSpPr>
          <p:spPr>
            <a:xfrm>
              <a:off x="3282120" y="840600"/>
              <a:ext cx="2705040" cy="14832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65" name="Rectangle: Rounded Corners 3"/>
            <p:cNvSpPr/>
            <p:nvPr/>
          </p:nvSpPr>
          <p:spPr>
            <a:xfrm>
              <a:off x="5829120" y="836640"/>
              <a:ext cx="3216600" cy="15228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66" name="Rectangle: Rounded Corners 4"/>
            <p:cNvSpPr/>
            <p:nvPr/>
          </p:nvSpPr>
          <p:spPr>
            <a:xfrm>
              <a:off x="98280" y="836640"/>
              <a:ext cx="3216600" cy="15228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63360" y="198000"/>
            <a:ext cx="77230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What is an Operating System?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25200" y="1267920"/>
            <a:ext cx="7761240" cy="538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 program that acts as an intermediary between a user of a computer and the computer hardware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Operating system goals: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Execute user programs and make solving user problems easier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Make the computer system convenient to use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Use the computer hardware in an efficient manner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traight Connector 1"/>
          <p:cNvSpPr/>
          <p:nvPr/>
        </p:nvSpPr>
        <p:spPr>
          <a:xfrm>
            <a:off x="919080" y="96372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70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71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72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73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8960" y="313920"/>
            <a:ext cx="927396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Computer System Components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28240" y="1204920"/>
            <a:ext cx="8915400" cy="60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Computer system can be divided into four components: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Hardware</a:t>
            </a:r>
            <a:r>
              <a:rPr b="0" lang="en-US" sz="1800" strike="noStrike" u="none">
                <a:solidFill>
                  <a:srgbClr val="7f7f7f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provides basic computing resources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CPU, memory, I/O devices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Operating 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Controls and coordinates use of hardware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  among various applications and users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Application programs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define the ways in which the system resources are used to solve the computing problems of the users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Word processors, compilers, web browsers, database systems, video games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Users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People, machines, other computers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77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78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79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80" name="Straight Connector 5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81" name="Picture 7" descr=""/>
          <p:cNvPicPr/>
          <p:nvPr/>
        </p:nvPicPr>
        <p:blipFill>
          <a:blip r:embed="rId1"/>
          <a:stretch/>
        </p:blipFill>
        <p:spPr>
          <a:xfrm>
            <a:off x="6539040" y="1066680"/>
            <a:ext cx="2301840" cy="227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30080" y="3265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Four Components of a Computer System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4" descr=""/>
          <p:cNvPicPr/>
          <p:nvPr/>
        </p:nvPicPr>
        <p:blipFill>
          <a:blip r:embed="rId1"/>
          <a:stretch/>
        </p:blipFill>
        <p:spPr>
          <a:xfrm>
            <a:off x="1952640" y="1533600"/>
            <a:ext cx="5448240" cy="4340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85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86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87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88" name="Straight Connector 5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351000"/>
            <a:ext cx="91440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What Operating Systems Do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42720" y="1233360"/>
            <a:ext cx="8591400" cy="453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Depends on the point of view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Users want convenience, </a:t>
            </a:r>
            <a:r>
              <a:rPr b="0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ease of use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and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r>
              <a:rPr b="0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good performance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Don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’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 care about </a:t>
            </a:r>
            <a:r>
              <a:rPr b="0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resource utilization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But shared computer such as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mainframe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or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minicomputer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must keep all users happy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Users of dedicate systems such as </a:t>
            </a:r>
            <a:r>
              <a:rPr b="1" lang="en-US" sz="20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workstations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have dedicated resources but frequently use shared resources from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servers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Handheld computers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are resource poor,  optimized for usability and battery life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Some computers have little or no user interface, such as </a:t>
            </a:r>
            <a:r>
              <a:rPr b="1" lang="en-US" sz="2000" strike="noStrike" u="none">
                <a:solidFill>
                  <a:srgbClr val="0070c0"/>
                </a:solidFill>
                <a:effectLst/>
                <a:uFillTx/>
                <a:latin typeface="Helvetica (Body)"/>
                <a:ea typeface="Times New Roman"/>
              </a:rPr>
              <a:t>embedded computers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in devices and automobiles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92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93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94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95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nodeType="clickEffect" fill="hold">
                      <p:stCondLst>
                        <p:cond delay="indefinite"/>
                      </p:stCondLst>
                      <p:childTnLst>
                        <p:par>
                          <p:cTn id="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nodeType="clickEffect" fill="hold">
                      <p:stCondLst>
                        <p:cond delay="indefinite"/>
                      </p:stCondLst>
                      <p:childTnLst>
                        <p:par>
                          <p:cTn id="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nodeType="clickEffect" fill="hold">
                      <p:stCondLst>
                        <p:cond delay="indefinite"/>
                      </p:stCondLst>
                      <p:childTnLst>
                        <p:par>
                          <p:cTn id="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8720" y="313920"/>
            <a:ext cx="75106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Operating System Definition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6560" y="1028880"/>
            <a:ext cx="7510680" cy="426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 system view: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OS is a </a:t>
            </a:r>
            <a:r>
              <a:rPr b="1" lang="en-US" sz="24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resource allocator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Manages all resources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Decides between conflicting requests for efficient and fair resource use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OS is a </a:t>
            </a:r>
            <a:r>
              <a:rPr b="1" lang="en-US" sz="24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control program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Controls execution of programs to prevent errors and improper use of the computer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99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00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01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02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58360" y="343080"/>
            <a:ext cx="80247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Operating System Definition (Cont.)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04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05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06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07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08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109" name="Rectangle 3"/>
          <p:cNvSpPr/>
          <p:nvPr/>
        </p:nvSpPr>
        <p:spPr>
          <a:xfrm>
            <a:off x="558720" y="1138320"/>
            <a:ext cx="8336160" cy="50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19999"/>
          </a:bodyPr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universally accepted definition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ja-JP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Everything a vendor ships when you order an operating system</a:t>
            </a:r>
            <a:r>
              <a:rPr b="0" lang="ja-JP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”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is a good approximation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52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But varies wildly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When you buy or install an operating system, the company/vendor usually gives you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many programs together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not just the core OS.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example, Windows may come with: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Kernel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File Explorer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Settings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Notepad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Calculator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Device drivers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Security tools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4320" indent="-227160">
              <a:lnSpc>
                <a:spcPct val="100000"/>
              </a:lnSpc>
              <a:spcBef>
                <a:spcPts val="524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Other utilities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people sometimes say: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 algn="ctr">
              <a:lnSpc>
                <a:spcPct val="100000"/>
              </a:lnSpc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“The operating system is everything the vendor ships with it.”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But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“varies wildly”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means this is not a precise definition because different vendors include very different amounts of software.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example: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52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One Linux distribution may include only basic tools.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52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Another Linux distribution may include a browser, office software, media player, and many utilities.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52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 and macOS also bundle different applications.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524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“varies wildly” = differs a lot from one operating system/vendor to another.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524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" dur="indefinite" restart="never" nodeType="tmRoot">
          <p:childTnLst>
            <p:seq>
              <p:cTn id="90" dur="indefinite" nodeType="mainSeq">
                <p:childTnLst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nodeType="clickEffect" fill="hold">
                      <p:stCondLst>
                        <p:cond delay="indefinite"/>
                      </p:stCondLst>
                      <p:childTnLst>
                        <p:par>
                          <p:cTn id="1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nodeType="clickEffect" fill="hold">
                      <p:stCondLst>
                        <p:cond delay="indefinite"/>
                      </p:stCondLst>
                      <p:childTnLst>
                        <p:par>
                          <p:cTn id="1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nodeType="clickEffect" fill="hold">
                      <p:stCondLst>
                        <p:cond delay="indefinite"/>
                      </p:stCondLst>
                      <p:childTnLst>
                        <p:par>
                          <p:cTn id="1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58360" y="343080"/>
            <a:ext cx="80247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Operating System Definition (Cont.)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11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12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13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4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15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116" name="Rectangle 3"/>
          <p:cNvSpPr/>
          <p:nvPr/>
        </p:nvSpPr>
        <p:spPr>
          <a:xfrm>
            <a:off x="558720" y="1247760"/>
            <a:ext cx="4327560" cy="50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1280" indent="-341280">
              <a:lnSpc>
                <a:spcPct val="100000"/>
              </a:lnSpc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ja-JP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one program running at all times on the computer</a:t>
            </a:r>
            <a:r>
              <a:rPr b="0" lang="ja-JP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”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is the </a:t>
            </a:r>
            <a:r>
              <a:rPr b="1" lang="en-US" sz="16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kernel,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 of the operating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Everything else is either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700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b="1" i="1" lang="en-US" sz="16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system program</a:t>
            </a: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</a:rPr>
              <a:t>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(ships with the operating system, but not part of the kernel) , 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00000"/>
              </a:lnSpc>
              <a:spcBef>
                <a:spcPts val="700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 </a:t>
            </a:r>
            <a:r>
              <a:rPr b="1" i="1" lang="en-US" sz="16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application program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all programs not associated with the operating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Today’s OSes for general purpose and mobile computing also include </a:t>
            </a:r>
            <a:r>
              <a:rPr b="1" i="1" lang="en-US" sz="16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middleware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a set of software frameworks that provide additional services to application developers such as databases, multimedia, graphics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117" name="Picture 1" descr="How do you explain an OS Kernel to a 5 year old? | by Anand Thanumalayan |  Medium"/>
          <p:cNvPicPr/>
          <p:nvPr/>
        </p:nvPicPr>
        <p:blipFill>
          <a:blip r:embed="rId1"/>
          <a:stretch/>
        </p:blipFill>
        <p:spPr>
          <a:xfrm>
            <a:off x="5216400" y="2003400"/>
            <a:ext cx="3807000" cy="293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nodeType="clickEffect" fill="hold">
                      <p:stCondLst>
                        <p:cond delay="indefinite"/>
                      </p:stCondLst>
                      <p:childTnLst>
                        <p:par>
                          <p:cTn id="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nodeType="clickEffect" fill="hold">
                      <p:stCondLst>
                        <p:cond delay="indefinite"/>
                      </p:stCondLst>
                      <p:childTnLst>
                        <p:par>
                          <p:cTn id="1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nodeType="clickEffect" fill="hold">
                      <p:stCondLst>
                        <p:cond delay="indefinite"/>
                      </p:stCondLst>
                      <p:childTnLst>
                        <p:par>
                          <p:cTn id="1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77720" y="343080"/>
            <a:ext cx="81057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Components of an Operating System Environment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19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20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21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2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23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124" name="Rectangle 3"/>
          <p:cNvSpPr/>
          <p:nvPr/>
        </p:nvSpPr>
        <p:spPr>
          <a:xfrm>
            <a:off x="558720" y="1247760"/>
            <a:ext cx="8336160" cy="50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Think of the OS like a restaurant: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Kernel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→ kitchen manager controlling CPU, memory, devices.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System programs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staff tools that help operate the system, e.g. File Explorer, command prompt.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Middleware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→ ready-made services developers use, e.g. database access, graphics, audio/video support.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Applications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programs users actually use, e.g. Chrome, Word, WhatsApp.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Example: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video app uses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middleware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for audio/video, while the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kernel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controls the CPU and hardware underneath.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nodeType="clickEffect" fill="hold">
                      <p:stCondLst>
                        <p:cond delay="indefinite"/>
                      </p:stCondLst>
                      <p:childTnLst>
                        <p:par>
                          <p:cTn id="1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nodeType="clickEffect" fill="hold">
                      <p:stCondLst>
                        <p:cond delay="indefinite"/>
                      </p:stCondLst>
                      <p:childTnLst>
                        <p:par>
                          <p:cTn id="1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nodeType="clickEffect" fill="hold">
                      <p:stCondLst>
                        <p:cond delay="indefinite"/>
                      </p:stCondLst>
                      <p:childTnLst>
                        <p:par>
                          <p:cTn id="1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nodeType="clickEffect" fill="hold">
                      <p:stCondLst>
                        <p:cond delay="indefinite"/>
                      </p:stCondLst>
                      <p:childTnLst>
                        <p:par>
                          <p:cTn id="1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nodeType="clickEffect" fill="hold">
                      <p:stCondLst>
                        <p:cond delay="indefinite"/>
                      </p:stCondLst>
                      <p:childTnLst>
                        <p:par>
                          <p:cTn id="1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nodeType="clickEffect" fill="hold">
                      <p:stCondLst>
                        <p:cond delay="indefinite"/>
                      </p:stCondLst>
                      <p:childTnLst>
                        <p:par>
                          <p:cTn id="1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35100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Computer Startup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06400" y="1233360"/>
            <a:ext cx="821232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bootstrap program</a:t>
            </a:r>
            <a:r>
              <a:rPr b="0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is loaded at power-up or reboot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Typically stored in ROM or EPROM, generally known as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firmware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Initializes all aspects of 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Loads operating system kernel and starts execution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28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29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30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31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pic>
        <p:nvPicPr>
          <p:cNvPr id="132" name="Picture 1" descr="bootstrap_process2_2fff.jpg"/>
          <p:cNvPicPr/>
          <p:nvPr/>
        </p:nvPicPr>
        <p:blipFill>
          <a:blip r:embed="rId1"/>
          <a:stretch/>
        </p:blipFill>
        <p:spPr>
          <a:xfrm>
            <a:off x="1905120" y="2957400"/>
            <a:ext cx="5121000" cy="384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nodeType="clickEffect" fill="hold">
                      <p:stCondLst>
                        <p:cond delay="indefinite"/>
                      </p:stCondLst>
                      <p:childTnLst>
                        <p:par>
                          <p:cTn id="1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71320" y="297000"/>
            <a:ext cx="80010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Why should I study Operating Systems?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-360" y="1230120"/>
            <a:ext cx="8921880" cy="53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to understand interaction between the hardware and applications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New applications, new hardware..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Inherent aspect of society today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to understand basic principles in the design of computer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efficient resource management, security, flexibility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Increasing need for specialized operating systems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e.g. embedded operating systems for devices - cell phones, sensors and controllers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real-time operating systems – vehicles, aircraft control, multimedia services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36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37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38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139" name="Straight Connector 5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Title 15" descr=""/>
          <p:cNvPicPr/>
          <p:nvPr/>
        </p:nvPicPr>
        <p:blipFill>
          <a:blip r:embed="rId1"/>
          <a:stretch/>
        </p:blipFill>
        <p:spPr>
          <a:xfrm>
            <a:off x="281160" y="-281160"/>
            <a:ext cx="8405640" cy="148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2" descr=""/>
          <p:cNvPicPr/>
          <p:nvPr/>
        </p:nvPicPr>
        <p:blipFill>
          <a:blip r:embed="rId2"/>
          <a:stretch/>
        </p:blipFill>
        <p:spPr>
          <a:xfrm>
            <a:off x="6195960" y="1562040"/>
            <a:ext cx="2909880" cy="218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3" descr=""/>
          <p:cNvPicPr/>
          <p:nvPr/>
        </p:nvPicPr>
        <p:blipFill>
          <a:blip r:embed="rId3"/>
          <a:stretch/>
        </p:blipFill>
        <p:spPr>
          <a:xfrm>
            <a:off x="-38160" y="3162240"/>
            <a:ext cx="2903760" cy="180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4" descr=""/>
          <p:cNvPicPr/>
          <p:nvPr/>
        </p:nvPicPr>
        <p:blipFill>
          <a:blip r:embed="rId4"/>
          <a:stretch/>
        </p:blipFill>
        <p:spPr>
          <a:xfrm>
            <a:off x="7758000" y="5524560"/>
            <a:ext cx="1347840" cy="95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5" descr="Tadiran Communications' products address every echelon, from the individual fighting soldier through the squad and platoon up to the division and corps level."/>
          <p:cNvPicPr/>
          <p:nvPr/>
        </p:nvPicPr>
        <p:blipFill>
          <a:blip r:embed="rId5"/>
          <a:stretch/>
        </p:blipFill>
        <p:spPr>
          <a:xfrm>
            <a:off x="-38160" y="1333440"/>
            <a:ext cx="2667240" cy="190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5" name="Group 6"/>
          <p:cNvGrpSpPr/>
          <p:nvPr/>
        </p:nvGrpSpPr>
        <p:grpSpPr>
          <a:xfrm>
            <a:off x="1333440" y="5143680"/>
            <a:ext cx="3276360" cy="1600200"/>
            <a:chOff x="1333440" y="5143680"/>
            <a:chExt cx="3276360" cy="1600200"/>
          </a:xfrm>
        </p:grpSpPr>
        <p:pic>
          <p:nvPicPr>
            <p:cNvPr id="146" name="Picture 14" descr="diagram of underwater computer with chording hand controller "/>
            <p:cNvPicPr/>
            <p:nvPr/>
          </p:nvPicPr>
          <p:blipFill>
            <a:blip r:embed="rId6"/>
            <a:stretch/>
          </p:blipFill>
          <p:spPr>
            <a:xfrm>
              <a:off x="1333440" y="5216400"/>
              <a:ext cx="3019320" cy="1381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Picture 15" descr="WetPC1">
              <a:hlinkClick r:id="rId7"/>
            </p:cNvPr>
            <p:cNvPicPr/>
            <p:nvPr/>
          </p:nvPicPr>
          <p:blipFill>
            <a:blip r:embed="rId8"/>
            <a:stretch/>
          </p:blipFill>
          <p:spPr>
            <a:xfrm>
              <a:off x="3610800" y="5143680"/>
              <a:ext cx="999000" cy="16002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48" name="Picture 7" descr="3gphone"/>
          <p:cNvPicPr/>
          <p:nvPr/>
        </p:nvPicPr>
        <p:blipFill>
          <a:blip r:embed="rId9"/>
          <a:srcRect l="0" t="3710" r="3695" b="0"/>
          <a:stretch/>
        </p:blipFill>
        <p:spPr>
          <a:xfrm>
            <a:off x="2857680" y="3314880"/>
            <a:ext cx="120636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8" descr=""/>
          <p:cNvPicPr/>
          <p:nvPr/>
        </p:nvPicPr>
        <p:blipFill>
          <a:blip r:embed="rId10"/>
          <a:stretch/>
        </p:blipFill>
        <p:spPr>
          <a:xfrm>
            <a:off x="6515280" y="3619440"/>
            <a:ext cx="2666880" cy="167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9" descr=""/>
          <p:cNvPicPr/>
          <p:nvPr/>
        </p:nvPicPr>
        <p:blipFill>
          <a:blip r:embed="rId11"/>
          <a:stretch/>
        </p:blipFill>
        <p:spPr>
          <a:xfrm>
            <a:off x="3086280" y="1409760"/>
            <a:ext cx="2533320" cy="19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10" descr=""/>
          <p:cNvPicPr/>
          <p:nvPr/>
        </p:nvPicPr>
        <p:blipFill>
          <a:blip r:embed="rId12"/>
          <a:stretch/>
        </p:blipFill>
        <p:spPr>
          <a:xfrm>
            <a:off x="4076640" y="3314880"/>
            <a:ext cx="25401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11" descr=""/>
          <p:cNvPicPr/>
          <p:nvPr/>
        </p:nvPicPr>
        <p:blipFill>
          <a:blip r:embed="rId13"/>
          <a:stretch/>
        </p:blipFill>
        <p:spPr>
          <a:xfrm>
            <a:off x="4610160" y="5372280"/>
            <a:ext cx="1101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12" descr=""/>
          <p:cNvPicPr/>
          <p:nvPr/>
        </p:nvPicPr>
        <p:blipFill>
          <a:blip r:embed="rId14"/>
          <a:stretch/>
        </p:blipFill>
        <p:spPr>
          <a:xfrm>
            <a:off x="-38160" y="4991040"/>
            <a:ext cx="1295640" cy="175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13" descr="1896"/>
          <p:cNvPicPr/>
          <p:nvPr/>
        </p:nvPicPr>
        <p:blipFill>
          <a:blip r:embed="rId15"/>
          <a:stretch/>
        </p:blipFill>
        <p:spPr>
          <a:xfrm>
            <a:off x="5600880" y="4457880"/>
            <a:ext cx="1828800" cy="219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6" descr=""/>
          <p:cNvPicPr/>
          <p:nvPr/>
        </p:nvPicPr>
        <p:blipFill>
          <a:blip r:embed="rId1"/>
          <a:stretch/>
        </p:blipFill>
        <p:spPr>
          <a:xfrm>
            <a:off x="55440" y="243000"/>
            <a:ext cx="4264200" cy="278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17" descr=""/>
          <p:cNvPicPr/>
          <p:nvPr/>
        </p:nvPicPr>
        <p:blipFill>
          <a:blip r:embed="rId2"/>
          <a:stretch/>
        </p:blipFill>
        <p:spPr>
          <a:xfrm>
            <a:off x="4329000" y="136440"/>
            <a:ext cx="4416480" cy="300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18" descr=""/>
          <p:cNvPicPr/>
          <p:nvPr/>
        </p:nvPicPr>
        <p:blipFill>
          <a:blip r:embed="rId3"/>
          <a:stretch/>
        </p:blipFill>
        <p:spPr>
          <a:xfrm>
            <a:off x="55440" y="3213000"/>
            <a:ext cx="427356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9" descr=""/>
          <p:cNvPicPr/>
          <p:nvPr/>
        </p:nvPicPr>
        <p:blipFill>
          <a:blip r:embed="rId4"/>
          <a:stretch/>
        </p:blipFill>
        <p:spPr>
          <a:xfrm>
            <a:off x="4329000" y="3394080"/>
            <a:ext cx="4602240" cy="283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5" descr=""/>
          <p:cNvPicPr/>
          <p:nvPr/>
        </p:nvPicPr>
        <p:blipFill>
          <a:blip r:embed="rId1"/>
          <a:stretch/>
        </p:blipFill>
        <p:spPr>
          <a:xfrm>
            <a:off x="0" y="0"/>
            <a:ext cx="5105520" cy="382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6" descr="AHS graphic"/>
          <p:cNvPicPr/>
          <p:nvPr/>
        </p:nvPicPr>
        <p:blipFill>
          <a:blip r:embed="rId2"/>
          <a:srcRect l="0" t="742" r="2113" b="0"/>
          <a:stretch/>
        </p:blipFill>
        <p:spPr>
          <a:xfrm>
            <a:off x="5105520" y="0"/>
            <a:ext cx="4038480" cy="335268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61" name="Picture 7" descr=""/>
          <p:cNvPicPr/>
          <p:nvPr/>
        </p:nvPicPr>
        <p:blipFill>
          <a:blip r:embed="rId3"/>
          <a:stretch/>
        </p:blipFill>
        <p:spPr>
          <a:xfrm>
            <a:off x="0" y="3809880"/>
            <a:ext cx="5105520" cy="304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8" descr=""/>
          <p:cNvPicPr/>
          <p:nvPr/>
        </p:nvPicPr>
        <p:blipFill>
          <a:blip r:embed="rId4"/>
          <a:stretch/>
        </p:blipFill>
        <p:spPr>
          <a:xfrm>
            <a:off x="5105520" y="3446640"/>
            <a:ext cx="3886200" cy="34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3265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Computer System Organization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777600" y="1423800"/>
            <a:ext cx="75978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Computer-system operation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One or more CPUs, device controllers connect through common </a:t>
            </a:r>
            <a:r>
              <a:rPr b="1" lang="en-US" sz="20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bus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providing access to shared memory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Concurrent execution of CPUs and devices competing for memory cycles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0">
              <a:spcBef>
                <a:spcPts val="8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5" descr=""/>
          <p:cNvPicPr/>
          <p:nvPr/>
        </p:nvPicPr>
        <p:blipFill>
          <a:blip r:embed="rId1"/>
          <a:stretch/>
        </p:blipFill>
        <p:spPr>
          <a:xfrm>
            <a:off x="1805040" y="3706920"/>
            <a:ext cx="6059520" cy="29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67" name="Group 4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68" name="Rectangle: Rounded Corners 5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69" name="Rectangle: Rounded Corners 6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70" name="Rectangle: Rounded Corners 7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0" y="321840"/>
            <a:ext cx="91440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Computer-System Architecture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15960" y="1290600"/>
            <a:ext cx="8337600" cy="486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Most systems use a single general-purpose processor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Most systems have special-purpose processors as well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Multiprocessors</a:t>
            </a:r>
            <a:r>
              <a:rPr b="0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systems growing in use and importance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11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Also known as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parallel systems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, </a:t>
            </a:r>
            <a:r>
              <a:rPr b="1" lang="en-US" sz="1800" strike="noStrike" u="none">
                <a:solidFill>
                  <a:srgbClr val="7030a0"/>
                </a:solidFill>
                <a:effectLst/>
                <a:uFillTx/>
                <a:latin typeface="Arial"/>
              </a:rPr>
              <a:t>tightly-coupled systems (TCM)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Advantages include: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buClr>
                <a:srgbClr val="009900"/>
              </a:buClr>
              <a:buSzPct val="75000"/>
              <a:buFont typeface="Helvetica (Body)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Increased throughput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buClr>
                <a:srgbClr val="009900"/>
              </a:buClr>
              <a:buSzPct val="75000"/>
              <a:buFont typeface="Helvetica (Body)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Economy of scale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buClr>
                <a:srgbClr val="009900"/>
              </a:buClr>
              <a:buSzPct val="75000"/>
              <a:buFont typeface="Helvetica (Body)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Increased reliability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graceful degradation or fault tolerance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Two types: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buClr>
                <a:srgbClr val="009900"/>
              </a:buClr>
              <a:buSzPct val="75000"/>
              <a:buFont typeface="Helvetica (Body)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Asymmetric Multiprocessing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each processor is assigned a specie task.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buClr>
                <a:srgbClr val="009900"/>
              </a:buClr>
              <a:buSzPct val="75000"/>
              <a:buFont typeface="Helvetica (Body)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Symmetric Multiprocessing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each processor performs all tasks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343080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74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75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76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77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nodeType="clickEffect" fill="hold">
                      <p:stCondLst>
                        <p:cond delay="0"/>
                      </p:stCondLst>
                      <p:childTnLst>
                        <p:par>
                          <p:cTn id="1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79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80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81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graphicFrame>
        <p:nvGraphicFramePr>
          <p:cNvPr id="182" name=""/>
          <p:cNvGraphicFramePr/>
          <p:nvPr/>
        </p:nvGraphicFramePr>
        <p:xfrm>
          <a:off x="471600" y="1689120"/>
          <a:ext cx="8199360" cy="3922560"/>
        </p:xfrm>
        <a:graphic>
          <a:graphicData uri="http://schemas.openxmlformats.org/drawingml/2006/table">
            <a:tbl>
              <a:tblPr/>
              <a:tblGrid>
                <a:gridCol w="2733480"/>
                <a:gridCol w="2732040"/>
                <a:gridCol w="2733840"/>
              </a:tblGrid>
              <a:tr h="39384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Feature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Tightly-Coupled System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Loosely-Coupled System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756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Memory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memory (common RAM)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Each processor has private memory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936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Communication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memory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Message passing via network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900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Single 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Each node may run its own 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240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Speed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Fast (low latency)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Slower (network delays)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348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Scalability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Limited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(easy to add nodes)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792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Fault Tolerance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(failure may affect all)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(failure of one doesn’t crash system)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900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Example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SMP servers, multicore PCs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Cloud systems, distributed DBs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3" name="Text Box 2"/>
          <p:cNvSpPr/>
          <p:nvPr/>
        </p:nvSpPr>
        <p:spPr>
          <a:xfrm>
            <a:off x="222120" y="390600"/>
            <a:ext cx="95364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70c0"/>
                </a:solidFill>
                <a:effectLst/>
                <a:uFillTx/>
                <a:latin typeface="Verdana"/>
              </a:rPr>
              <a:t>Tightly-Coupled vs Loosely-Coupled System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84" name="Straight Connector 9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3265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Parallel Systems (Cont.)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047240" y="1157400"/>
            <a:ext cx="702972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Symmetric multiprocessing (SMP)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Each processor runs and identical copy of the operating system.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Many processes can run at once without performance deterioration.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Most modern operating systems support SMP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Asymmetric multiprocessing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Each processor is assigned a specific task; master processor schedules and allocated work to slave processors.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More common in extremely large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88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89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90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91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3" dur="indefinite" restart="never" nodeType="tmRoot">
          <p:childTnLst>
            <p:seq>
              <p:cTn id="214" dur="indefinite" nodeType="mainSeq">
                <p:childTnLst>
                  <p:par>
                    <p:cTn id="215" nodeType="clickEffect" fill="hold">
                      <p:stCondLst>
                        <p:cond delay="indefinite"/>
                      </p:stCondLst>
                      <p:childTnLst>
                        <p:par>
                          <p:cTn id="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nodeType="clickEffect" fill="hold">
                      <p:stCondLst>
                        <p:cond delay="indefinite"/>
                      </p:stCondLst>
                      <p:childTnLst>
                        <p:par>
                          <p:cTn id="2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3265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Parallel Systems (Cont.)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193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194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195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96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197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graphicFrame>
        <p:nvGraphicFramePr>
          <p:cNvPr id="198" name=""/>
          <p:cNvGraphicFramePr/>
          <p:nvPr/>
        </p:nvGraphicFramePr>
        <p:xfrm>
          <a:off x="582480" y="1576440"/>
          <a:ext cx="8229600" cy="34448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8904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Feature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Symmetric (SMP)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Asymmetric (AMP)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</a:tr>
              <a:tr h="688680"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Control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All CPUs equal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Master–slave model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689040"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Resource sharing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memory &amp; I/O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Workers depend on master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689040"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Performance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High, scalable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Limited by master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689040"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Example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Modern PCs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55760"/>
                          <a:tab algn="l" pos="911160"/>
                          <a:tab algn="l" pos="1366920"/>
                          <a:tab algn="l" pos="1822320"/>
                          <a:tab algn="l" pos="2278080"/>
                          <a:tab algn="l" pos="2733840"/>
                          <a:tab algn="l" pos="3189240"/>
                          <a:tab algn="l" pos="3645000"/>
                          <a:tab algn="l" pos="4100400"/>
                          <a:tab algn="l" pos="4556160"/>
                          <a:tab algn="l" pos="5011560"/>
                          <a:tab algn="l" pos="5467320"/>
                          <a:tab algn="l" pos="5923080"/>
                          <a:tab algn="l" pos="6378480"/>
                          <a:tab algn="l" pos="6834240"/>
                          <a:tab algn="l" pos="7289640"/>
                          <a:tab algn="l" pos="7745400"/>
                          <a:tab algn="l" pos="8201160"/>
                          <a:tab algn="l" pos="8656560"/>
                          <a:tab algn="l" pos="911232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Old mainframes, some embedded systems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Verdana"/>
                      </a:endParaRPr>
                    </a:p>
                  </a:txBody>
                  <a:tcPr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76200" y="64728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Symmetric Multiprocessing Architecture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7" descr="1"/>
          <p:cNvPicPr/>
          <p:nvPr/>
        </p:nvPicPr>
        <p:blipFill>
          <a:blip r:embed="rId1"/>
          <a:stretch/>
        </p:blipFill>
        <p:spPr>
          <a:xfrm>
            <a:off x="1592280" y="1523880"/>
            <a:ext cx="5764320" cy="27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2"/>
          <p:cNvSpPr/>
          <p:nvPr/>
        </p:nvSpPr>
        <p:spPr>
          <a:xfrm>
            <a:off x="1298520" y="4194000"/>
            <a:ext cx="7232760" cy="26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physical CPU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↓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 CPU cores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↓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Core 0, Core 1, Core 2, ... Core 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Those cores can work somewhat like the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CPU₀, CPU₁, CPU₂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shown in this SMP diagram.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SMP (Symmetric Multiprocessing)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basically means: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Multiple equal CPUs/cores can run tasks simultaneously and share the same main memory.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nodeType="clickEffect" fill="hold">
                      <p:stCondLst>
                        <p:cond delay="indefinite"/>
                      </p:stCondLst>
                      <p:childTnLst>
                        <p:par>
                          <p:cTn id="2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74560" y="150840"/>
            <a:ext cx="832032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Symmetric Multiprocessing Architecture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7" descr="https://4310b1a9-a-b8516d33-s-sites.googlegroups.com/a/retrocomputingtasmania.com/home/home/projects/burroughs-b5500/b5000_b5500_gallery/B5500%20system%20with%20peripherals%20Numbered.png?attachauth=ANoY7crMZe2jmscgw-6l3oVhdYaoecPJQg1qzFYI9NOAUcNtU3pxNFcah8Pg243BVHjBS-c5ArHortaCEySHkJaKzcjA-5qLFhxW9F1gP3oetNyteEgLRhFjSSgYV8Eh0Rnh1m2b5YRRUDhNSWxKbIhq6zDTi3Vyg2d-xUyk53_UOHEzLWoQJuXHg3UfsetmknvIfp6SoqVVRXTHWqAXwXQPznAYCpOsSg2aAsRozOKxpp4ZMGV3RiHqK9HqwfFEdc-K-ZA_PkwneAlfzeIJDZjIHhFC62l4_swpbAnRsgfA6zuVx-m6xXx3krdhTDXpQJtGI0UwDabFnslQ2ZhjWUSANjlcHltLow%3D%3D&amp;attredirects=0"/>
          <p:cNvPicPr/>
          <p:nvPr/>
        </p:nvPicPr>
        <p:blipFill>
          <a:blip r:embed="rId1"/>
          <a:stretch/>
        </p:blipFill>
        <p:spPr>
          <a:xfrm>
            <a:off x="0" y="723960"/>
            <a:ext cx="3895560" cy="526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8" descr=""/>
          <p:cNvPicPr/>
          <p:nvPr/>
        </p:nvPicPr>
        <p:blipFill>
          <a:blip r:embed="rId2"/>
          <a:stretch/>
        </p:blipFill>
        <p:spPr>
          <a:xfrm>
            <a:off x="3895560" y="1138320"/>
            <a:ext cx="5248440" cy="390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Box 2"/>
          <p:cNvSpPr/>
          <p:nvPr/>
        </p:nvSpPr>
        <p:spPr>
          <a:xfrm>
            <a:off x="4145040" y="5388120"/>
            <a:ext cx="474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Two CPUs were installed in the same computer and both could process work while sharing the same memory/resources.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9160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A Dual-Core Design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835200" y="1565280"/>
            <a:ext cx="7108560" cy="268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1280" indent="-341280"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Multi-chip and </a:t>
            </a:r>
            <a:r>
              <a:rPr b="1" lang="en-US" sz="24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multicore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1049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Systems containing all  chips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Chassis containing multiple separate systems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1049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10" descr="1"/>
          <p:cNvPicPr/>
          <p:nvPr/>
        </p:nvPicPr>
        <p:blipFill>
          <a:blip r:embed="rId1"/>
          <a:stretch/>
        </p:blipFill>
        <p:spPr>
          <a:xfrm>
            <a:off x="2693880" y="3216240"/>
            <a:ext cx="3756240" cy="277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2590920" y="6211800"/>
            <a:ext cx="4572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1 CPU chip → 2 cores → both can execute tasks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3265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Distributed Systems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6840" y="1154160"/>
            <a:ext cx="834876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Distribute the computation among several physical processors.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distributed system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is a system where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multiple separate computers/processors work together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to complete tasks.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11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Loosely coupled system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r>
              <a:rPr b="1" lang="en-US" sz="1800" strike="noStrike" u="none">
                <a:solidFill>
                  <a:srgbClr val="7030a0"/>
                </a:solidFill>
                <a:effectLst/>
                <a:uFillTx/>
                <a:latin typeface="Arial"/>
              </a:rPr>
              <a:t>(LCM)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each processor has its own local memory; processors communicate with one another through various communications lines, such as high-speed buses or telephone lines.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Advantages of distributed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Resources Sharing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Computation speed up – load sharing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Reliability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Communications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traight Connector 1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214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15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16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17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nodeType="clickEffect" fill="hold">
                      <p:stCondLst>
                        <p:cond delay="indefinite"/>
                      </p:stCondLst>
                      <p:childTnLst>
                        <p:par>
                          <p:cTn id="2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nodeType="clickEffect" fill="hold">
                      <p:stCondLst>
                        <p:cond delay="indefinite"/>
                      </p:stCondLst>
                      <p:childTnLst>
                        <p:par>
                          <p:cTn id="2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nodeType="clickEffect" fill="hold">
                      <p:stCondLst>
                        <p:cond delay="indefinite"/>
                      </p:stCondLst>
                      <p:childTnLst>
                        <p:par>
                          <p:cTn id="2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nodeType="clickEffect" fill="hold">
                      <p:stCondLst>
                        <p:cond delay="indefinite"/>
                      </p:stCondLst>
                      <p:childTnLst>
                        <p:par>
                          <p:cTn id="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8368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Distributed Computing Systems - Examples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19" name="Picture 11" descr=""/>
          <p:cNvPicPr/>
          <p:nvPr/>
        </p:nvPicPr>
        <p:blipFill>
          <a:blip r:embed="rId1"/>
          <a:stretch/>
        </p:blipFill>
        <p:spPr>
          <a:xfrm>
            <a:off x="334800" y="1469880"/>
            <a:ext cx="4029120" cy="229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Rectangle 12"/>
          <p:cNvSpPr/>
          <p:nvPr/>
        </p:nvSpPr>
        <p:spPr>
          <a:xfrm>
            <a:off x="411120" y="1128600"/>
            <a:ext cx="3276720" cy="307440"/>
          </a:xfrm>
          <a:prstGeom prst="rect">
            <a:avLst/>
          </a:prstGeom>
          <a:solidFill>
            <a:srgbClr val="f5f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Globus Grid Computing Toolkit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21" name="Picture 13" descr=""/>
          <p:cNvPicPr/>
          <p:nvPr/>
        </p:nvPicPr>
        <p:blipFill>
          <a:blip r:embed="rId2"/>
          <a:stretch/>
        </p:blipFill>
        <p:spPr>
          <a:xfrm>
            <a:off x="4991040" y="1487520"/>
            <a:ext cx="3724200" cy="229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Rectangle 14"/>
          <p:cNvSpPr/>
          <p:nvPr/>
        </p:nvSpPr>
        <p:spPr>
          <a:xfrm>
            <a:off x="5214960" y="1239840"/>
            <a:ext cx="3276720" cy="307440"/>
          </a:xfrm>
          <a:prstGeom prst="rect">
            <a:avLst/>
          </a:prstGeom>
          <a:solidFill>
            <a:srgbClr val="f5f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Cloud Computing Offerings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23" name="Picture 15" descr=""/>
          <p:cNvPicPr/>
          <p:nvPr/>
        </p:nvPicPr>
        <p:blipFill>
          <a:blip r:embed="rId3"/>
          <a:stretch/>
        </p:blipFill>
        <p:spPr>
          <a:xfrm>
            <a:off x="334800" y="4592520"/>
            <a:ext cx="3962520" cy="19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16"/>
          <p:cNvSpPr/>
          <p:nvPr/>
        </p:nvSpPr>
        <p:spPr>
          <a:xfrm>
            <a:off x="380880" y="4206960"/>
            <a:ext cx="3276720" cy="307440"/>
          </a:xfrm>
          <a:prstGeom prst="rect">
            <a:avLst/>
          </a:prstGeom>
          <a:solidFill>
            <a:srgbClr val="f5f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PlanetLab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25" name="Picture 17" descr=""/>
          <p:cNvPicPr/>
          <p:nvPr/>
        </p:nvPicPr>
        <p:blipFill>
          <a:blip r:embed="rId4"/>
          <a:stretch/>
        </p:blipFill>
        <p:spPr>
          <a:xfrm>
            <a:off x="5300640" y="4554360"/>
            <a:ext cx="3276720" cy="20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Rectangle 18"/>
          <p:cNvSpPr/>
          <p:nvPr/>
        </p:nvSpPr>
        <p:spPr>
          <a:xfrm>
            <a:off x="5214960" y="4216320"/>
            <a:ext cx="3276720" cy="307440"/>
          </a:xfrm>
          <a:prstGeom prst="rect">
            <a:avLst/>
          </a:prstGeom>
          <a:solidFill>
            <a:srgbClr val="f5f5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Gnutella P2P Network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27" name="Straight Connector 19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411120" y="3745080"/>
            <a:ext cx="3886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Many computers share processing power for large tasks.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29" name="TextBox 4"/>
          <p:cNvSpPr/>
          <p:nvPr/>
        </p:nvSpPr>
        <p:spPr>
          <a:xfrm>
            <a:off x="4780080" y="3780000"/>
            <a:ext cx="436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Remote servers provide computing and storage over the internet.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474840" y="6573960"/>
            <a:ext cx="3749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Global research network for networking experiments.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4699080" y="6518160"/>
            <a:ext cx="42717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Computers connect directly and share resources.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3" dur="indefinite" restart="never" nodeType="tmRoot">
          <p:childTnLst>
            <p:seq>
              <p:cTn id="264" dur="indefinite" nodeType="mainSeq">
                <p:childTnLst>
                  <p:par>
                    <p:cTn id="265" nodeType="clickEffect" fill="hold">
                      <p:stCondLst>
                        <p:cond delay="indefinite"/>
                      </p:stCondLst>
                      <p:childTnLst>
                        <p:par>
                          <p:cTn id="2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nodeType="clickEffect" fill="hold">
                      <p:stCondLst>
                        <p:cond delay="indefinite"/>
                      </p:stCondLst>
                      <p:childTnLst>
                        <p:par>
                          <p:cTn id="2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nodeType="clickEffect" fill="hold">
                      <p:stCondLst>
                        <p:cond delay="indefinite"/>
                      </p:stCondLst>
                      <p:childTnLst>
                        <p:par>
                          <p:cTn id="2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nodeType="clickEffect" fill="hold">
                      <p:stCondLst>
                        <p:cond delay="indefinite"/>
                      </p:stCondLst>
                      <p:childTnLst>
                        <p:par>
                          <p:cTn id="2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" y="182160"/>
            <a:ext cx="863604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Clustered Systems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48840" y="1080720"/>
            <a:ext cx="8636040" cy="453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1280" indent="-341280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Like multiprocessor systems, but multiple systems working together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All computers can access the same shared storage called a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Storage Area Network (SAN).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Provides a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high-availability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service which survives failures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Types of Clustering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Asymmetric Clustering: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One active node runs the application while a standby node stays idle in hot-standby mode, monitoring the active system to take over if it fails.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Symmetric Clustering: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All participating nodes run applications simultaneously, actively processing data and monitoring each other for higher hardware efficiency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Some clusters are for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high-performance computing (HPC)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876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Applications must be written to use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parallelization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Some have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 distributed lock manager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DLM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to avoid conflicting operations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35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36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37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7" dur="indefinite" restart="never" nodeType="tmRoot">
          <p:childTnLst>
            <p:seq>
              <p:cTn id="298" dur="indefinite" nodeType="mainSeq">
                <p:childTnLst>
                  <p:par>
                    <p:cTn id="299" nodeType="clickEffect" fill="hold">
                      <p:stCondLst>
                        <p:cond delay="indefinite"/>
                      </p:stCondLst>
                      <p:childTnLst>
                        <p:par>
                          <p:cTn id="3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nodeType="clickEffect" fill="hold">
                      <p:stCondLst>
                        <p:cond delay="indefinite"/>
                      </p:stCondLst>
                      <p:childTnLst>
                        <p:par>
                          <p:cTn id="3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nodeType="clickEffect" fill="hold">
                      <p:stCondLst>
                        <p:cond delay="indefinite"/>
                      </p:stCondLst>
                      <p:childTnLst>
                        <p:par>
                          <p:cTn id="3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nodeType="clickEffect" fill="hold">
                      <p:stCondLst>
                        <p:cond delay="indefinite"/>
                      </p:stCondLst>
                      <p:childTnLst>
                        <p:par>
                          <p:cTn id="3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nodeType="clickEffect" fill="hold">
                      <p:stCondLst>
                        <p:cond delay="indefinite"/>
                      </p:stCondLst>
                      <p:childTnLst>
                        <p:par>
                          <p:cTn id="3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nodeType="clickEffect" fill="hold">
                      <p:stCondLst>
                        <p:cond delay="indefinite"/>
                      </p:stCondLst>
                      <p:childTnLst>
                        <p:par>
                          <p:cTn id="3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" descr=""/>
          <p:cNvPicPr/>
          <p:nvPr/>
        </p:nvPicPr>
        <p:blipFill>
          <a:blip r:embed="rId1"/>
          <a:stretch/>
        </p:blipFill>
        <p:spPr>
          <a:xfrm>
            <a:off x="1143000" y="1143000"/>
            <a:ext cx="6858000" cy="457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19800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Clustered Systems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40" name="Content Placeholder 3" descr="1.08.pdf"/>
          <p:cNvPicPr/>
          <p:nvPr/>
        </p:nvPicPr>
        <p:blipFill>
          <a:blip r:embed="rId1"/>
          <a:srcRect l="0" t="-3467" r="0" b="-3467"/>
          <a:stretch/>
        </p:blipFill>
        <p:spPr>
          <a:xfrm>
            <a:off x="1405080" y="1557360"/>
            <a:ext cx="6402240" cy="352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2"/>
          <p:cNvSpPr/>
          <p:nvPr/>
        </p:nvSpPr>
        <p:spPr>
          <a:xfrm>
            <a:off x="523800" y="920880"/>
            <a:ext cx="809640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Distributed system: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Imagine a company has servers in: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Pakistan ↔ UK ↔ Germany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Each server works independently but communicates with the others.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Clustered system: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Imagine one data center has: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Server 1 + Server 2 + Server 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All three work together to run the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same application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. If Server 1 fails, Server 2 can continue the service.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Key difference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Think: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Distributed =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computers are spread out and cooperate.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Cluster =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computers are grouped together and behave more like one powerful/reliable system.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One important point: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a cluster is actually a type of distributed system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, but not every distributed system is a cluster.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42" name="Title 1"/>
          <p:cNvSpPr/>
          <p:nvPr/>
        </p:nvSpPr>
        <p:spPr>
          <a:xfrm>
            <a:off x="50760" y="182520"/>
            <a:ext cx="86360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Distributed Systems vs Clustered Systems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650880" y="6099120"/>
            <a:ext cx="62071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Distributed = distance = loosely coupled</a:t>
            </a:r>
            <a:br>
              <a:rPr sz="1600"/>
            </a:b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Clustered = close = tightly coupled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9" dur="indefinite" restart="never" nodeType="tmRoot">
          <p:childTnLst>
            <p:seq>
              <p:cTn id="330" dur="indefinite" nodeType="mainSeq">
                <p:childTnLst>
                  <p:par>
                    <p:cTn id="331" nodeType="clickEffect" fill="hold">
                      <p:stCondLst>
                        <p:cond delay="indefinite"/>
                      </p:stCondLst>
                      <p:childTnLst>
                        <p:par>
                          <p:cTn id="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nodeType="clickEffect" fill="hold">
                      <p:stCondLst>
                        <p:cond delay="indefinite"/>
                      </p:stCondLst>
                      <p:childTnLst>
                        <p:par>
                          <p:cTn id="3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nodeType="clickEffect" fill="hold">
                      <p:stCondLst>
                        <p:cond delay="indefinite"/>
                      </p:stCondLst>
                      <p:childTnLst>
                        <p:par>
                          <p:cTn id="3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clickEffect" fill="hold">
                      <p:stCondLst>
                        <p:cond delay="indefinite"/>
                      </p:stCondLst>
                      <p:childTnLst>
                        <p:par>
                          <p:cTn id="3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nodeType="clickEffect" fill="hold">
                      <p:stCondLst>
                        <p:cond delay="indefinite"/>
                      </p:stCondLst>
                      <p:childTnLst>
                        <p:par>
                          <p:cTn id="3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nodeType="clickEffect" fill="hold">
                      <p:stCondLst>
                        <p:cond delay="indefinite"/>
                      </p:stCondLst>
                      <p:childTnLst>
                        <p:par>
                          <p:cTn id="3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215640" y="348840"/>
            <a:ext cx="863604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Clustered Systems vs Multiprocessor system?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45" name="Content Placeholder 2"/>
          <p:cNvSpPr/>
          <p:nvPr/>
        </p:nvSpPr>
        <p:spPr>
          <a:xfrm>
            <a:off x="419040" y="1233360"/>
            <a:ext cx="822960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2500" lnSpcReduction="9999"/>
          </a:bodyPr>
          <a:p>
            <a:pPr marL="341280" indent="-341280" algn="just">
              <a:lnSpc>
                <a:spcPct val="150000"/>
              </a:lnSpc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Multiprocessor system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one computer with multiple processors/CPUs working together.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 algn="just">
              <a:lnSpc>
                <a:spcPct val="150000"/>
              </a:lnSpc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Clustered system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multiple separate computers connected through a network and working together.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 algn="just">
              <a:lnSpc>
                <a:spcPct val="150000"/>
              </a:lnSpc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Main differences: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08120" indent="-341280" algn="just">
              <a:lnSpc>
                <a:spcPct val="150000"/>
              </a:lnSpc>
              <a:spcBef>
                <a:spcPts val="612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Connection: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Multiprocessor CPUs are inside the same system; clustered computers are connected by LAN/high-speed network.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08120" indent="-341280" algn="just">
              <a:lnSpc>
                <a:spcPct val="150000"/>
              </a:lnSpc>
              <a:spcBef>
                <a:spcPts val="612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Memory: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Multiprocessor systems usually share the same main memory; clustered systems have separate memory, though they may share storage.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08120" indent="-341280" algn="just">
              <a:lnSpc>
                <a:spcPct val="150000"/>
              </a:lnSpc>
              <a:spcBef>
                <a:spcPts val="612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Main goal: </a:t>
            </a:r>
            <a:r>
              <a:rPr b="1" lang="en-US" sz="1400" strike="noStrike" u="none">
                <a:solidFill>
                  <a:srgbClr val="00b0f0"/>
                </a:solidFill>
                <a:effectLst/>
                <a:uFillTx/>
                <a:latin typeface="Arial"/>
                <a:ea typeface="Times New Roman"/>
              </a:rPr>
              <a:t>Multiprocessor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faster processing/performance. </a:t>
            </a:r>
            <a:r>
              <a:rPr b="1" lang="en-US" sz="1400" strike="noStrike" u="none">
                <a:solidFill>
                  <a:srgbClr val="00b0f0"/>
                </a:solidFill>
                <a:effectLst/>
                <a:uFillTx/>
                <a:latin typeface="Arial"/>
                <a:ea typeface="Times New Roman"/>
              </a:rPr>
              <a:t>Cluster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high availability and reliability.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1280" indent="-341280" algn="just">
              <a:lnSpc>
                <a:spcPct val="150000"/>
              </a:lnSpc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Easy way to remember: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927000" indent="-285480">
              <a:lnSpc>
                <a:spcPct val="150000"/>
              </a:lnSpc>
              <a:spcBef>
                <a:spcPts val="612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Multiprocessor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many CPUs in one computer.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927000" indent="-285480">
              <a:lnSpc>
                <a:spcPct val="150000"/>
              </a:lnSpc>
              <a:spcBef>
                <a:spcPts val="612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Cluster =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many computers working as one system.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46" name="Straight Connector 3"/>
          <p:cNvSpPr/>
          <p:nvPr/>
        </p:nvSpPr>
        <p:spPr>
          <a:xfrm>
            <a:off x="919080" y="102888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247" name="Group 4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48" name="Rectangle: Rounded Corners 5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49" name="Rectangle: Rounded Corners 6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50" name="Rectangle: Rounded Corners 7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3" dur="indefinite" restart="never" nodeType="tmRoot">
          <p:childTnLst>
            <p:seq>
              <p:cTn id="374" dur="indefinite" nodeType="mainSeq">
                <p:childTnLst>
                  <p:par>
                    <p:cTn id="375" nodeType="clickEffect" fill="hold">
                      <p:stCondLst>
                        <p:cond delay="indefinite"/>
                      </p:stCondLst>
                      <p:childTnLst>
                        <p:par>
                          <p:cTn id="3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nodeType="clickEffect" fill="hold">
                      <p:stCondLst>
                        <p:cond delay="indefinite"/>
                      </p:stCondLst>
                      <p:childTnLst>
                        <p:par>
                          <p:cTn id="3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nodeType="clickEffect" fill="hold">
                      <p:stCondLst>
                        <p:cond delay="indefinite"/>
                      </p:stCondLst>
                      <p:childTnLst>
                        <p:par>
                          <p:cTn id="3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nodeType="clickEffect" fill="hold">
                      <p:stCondLst>
                        <p:cond delay="indefinite"/>
                      </p:stCondLst>
                      <p:childTnLst>
                        <p:par>
                          <p:cTn id="3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nodeType="clickEffect" fill="hold">
                      <p:stCondLst>
                        <p:cond delay="indefinite"/>
                      </p:stCondLst>
                      <p:childTnLst>
                        <p:par>
                          <p:cTn id="3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nodeType="clickEffect" fill="hold">
                      <p:stCondLst>
                        <p:cond delay="indefinite"/>
                      </p:stCondLst>
                      <p:childTnLst>
                        <p:par>
                          <p:cTn id="4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nodeType="clickEffect" fill="hold">
                      <p:stCondLst>
                        <p:cond delay="indefinite"/>
                      </p:stCondLst>
                      <p:childTnLst>
                        <p:par>
                          <p:cTn id="4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nodeType="clickEffect" fill="hold">
                      <p:stCondLst>
                        <p:cond delay="indefinite"/>
                      </p:stCondLst>
                      <p:childTnLst>
                        <p:par>
                          <p:cTn id="4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98320" y="166320"/>
            <a:ext cx="80884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Operating System techniques / system types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06360" y="996840"/>
            <a:ext cx="8670960" cy="56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9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Multiprogramming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Batch system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needed for efficiency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Single user cannot keep CPU and I/O devices busy at all times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Multiprogramming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— commonly used in Batch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Several jobs are kept in memory at the same time.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CPU runs one job.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If that job waits for I/O, the OS switches to another job.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Job scheduling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decides which job runs next.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Main goal: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keep the CPU busy and improve efficiency.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9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Timesharing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multitasking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means the CPU switches very quickly between multiple running programs so users feel they are running at the same time., creating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interactive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computing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Response time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should be &lt; 1 second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Each user has at least one program executing in memory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process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If several jobs ready to run at the same time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CPU scheduling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If processes don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’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 fit in memory,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swapping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moves them in and out to run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Virtual memory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allows execution of processes not completely in memory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3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54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55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56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257" name="Straight Connector 5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1" dur="indefinite" restart="never" nodeType="tmRoot">
          <p:childTnLst>
            <p:seq>
              <p:cTn id="412" dur="indefinite" nodeType="mainSeq">
                <p:childTnLst>
                  <p:par>
                    <p:cTn id="413" nodeType="clickEffect" fill="hold">
                      <p:stCondLst>
                        <p:cond delay="indefinite"/>
                      </p:stCondLst>
                      <p:childTnLst>
                        <p:par>
                          <p:cTn id="4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nodeType="clickEffect" fill="hold">
                      <p:stCondLst>
                        <p:cond delay="indefinite"/>
                      </p:stCondLst>
                      <p:childTnLst>
                        <p:par>
                          <p:cTn id="4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nodeType="clickEffect" fill="hold">
                      <p:stCondLst>
                        <p:cond delay="indefinite"/>
                      </p:stCondLst>
                      <p:childTnLst>
                        <p:par>
                          <p:cTn id="4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nodeType="clickEffect" fill="hold">
                      <p:stCondLst>
                        <p:cond delay="indefinite"/>
                      </p:stCondLst>
                      <p:childTnLst>
                        <p:par>
                          <p:cTn id="4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nodeType="clickEffect" fill="hold">
                      <p:stCondLst>
                        <p:cond delay="indefinite"/>
                      </p:stCondLst>
                      <p:childTnLst>
                        <p:par>
                          <p:cTn id="4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nodeType="clickEffect" fill="hold">
                      <p:stCondLst>
                        <p:cond delay="indefinite"/>
                      </p:stCondLst>
                      <p:childTnLst>
                        <p:par>
                          <p:cTn id="4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nodeType="clickEffect" fill="hold">
                      <p:stCondLst>
                        <p:cond delay="indefinite"/>
                      </p:stCondLst>
                      <p:childTnLst>
                        <p:par>
                          <p:cTn id="4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nodeType="clickEffect" fill="hold">
                      <p:stCondLst>
                        <p:cond delay="indefinite"/>
                      </p:stCondLst>
                      <p:childTnLst>
                        <p:par>
                          <p:cTn id="4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nodeType="clickEffect" fill="hold">
                      <p:stCondLst>
                        <p:cond delay="indefinite"/>
                      </p:stCondLst>
                      <p:childTnLst>
                        <p:par>
                          <p:cTn id="4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nodeType="clickEffect" fill="hold">
                      <p:stCondLst>
                        <p:cond delay="indefinite"/>
                      </p:stCondLst>
                      <p:childTnLst>
                        <p:par>
                          <p:cTn id="4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nodeType="clickEffect" fill="hold">
                      <p:stCondLst>
                        <p:cond delay="indefinite"/>
                      </p:stCondLst>
                      <p:childTnLst>
                        <p:par>
                          <p:cTn id="4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nodeType="clickEffect" fill="hold">
                      <p:stCondLst>
                        <p:cond delay="indefinite"/>
                      </p:stCondLst>
                      <p:childTnLst>
                        <p:par>
                          <p:cTn id="4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nodeType="clickEffect" fill="hold">
                      <p:stCondLst>
                        <p:cond delay="indefinite"/>
                      </p:stCondLst>
                      <p:childTnLst>
                        <p:par>
                          <p:cTn id="4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98320" y="258480"/>
            <a:ext cx="80884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Times New Roman"/>
                <a:ea typeface="Times New Roman"/>
              </a:rPr>
              <a:t>Multiprogramming vs Time Sharing</a:t>
            </a:r>
            <a:endParaRPr b="1" lang="en-US" sz="32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60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61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62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263" name="Straight Connector 5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64" name="Content Placeholder 3"/>
          <p:cNvSpPr/>
          <p:nvPr/>
        </p:nvSpPr>
        <p:spPr>
          <a:xfrm>
            <a:off x="598320" y="927000"/>
            <a:ext cx="822960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88920">
              <a:lnSpc>
                <a:spcPct val="90000"/>
              </a:lnSpc>
              <a:spcBef>
                <a:spcPts val="10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Main difference between multiprogramming and time sharing is that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5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Multiprogramming: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is the effective utilization of CPU time, by allowing several programs to use the CPU at the same time but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1240" indent="-284040">
              <a:lnSpc>
                <a:spcPct val="15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Time Sharing: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is the sharing of a computing facility by several users that want to use the same facility at the same time. Each user on a time sharing system gets her own terminal and gets the feeling that she is using the CPU alone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7" dur="indefinite" restart="never" nodeType="tmRoot">
          <p:childTnLst>
            <p:seq>
              <p:cTn id="468" dur="indefinite" nodeType="mainSeq">
                <p:childTnLst>
                  <p:par>
                    <p:cTn id="469" nodeType="clickEffect" fill="hold">
                      <p:stCondLst>
                        <p:cond delay="indefinite"/>
                      </p:stCondLst>
                      <p:childTnLst>
                        <p:par>
                          <p:cTn id="4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nodeType="clickEffect" fill="hold">
                      <p:stCondLst>
                        <p:cond delay="indefinite"/>
                      </p:stCondLst>
                      <p:childTnLst>
                        <p:par>
                          <p:cTn id="4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33440" y="147600"/>
            <a:ext cx="851832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Time-Sharing Systems–Interactive Computing 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242640" y="756720"/>
            <a:ext cx="8901000" cy="335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Allows multiple users/tasks to use the CPU at the same time.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CPU gives each task a small time slice (time quantum).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CPU switches between tasks very quickly.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Main goal: fast response time for users.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Uses CPU scheduling + multiprogramming.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Example: Multiple users working on the same server/system simultaneously.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5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Key difference: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Multiprogramming → maximize CPU usage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Time-sharing → minimize response time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0">
              <a:spcBef>
                <a:spcPts val="788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1" descr=""/>
          <p:cNvPicPr/>
          <p:nvPr/>
        </p:nvPicPr>
        <p:blipFill>
          <a:blip r:embed="rId1"/>
          <a:stretch/>
        </p:blipFill>
        <p:spPr>
          <a:xfrm>
            <a:off x="798480" y="4191120"/>
            <a:ext cx="3208320" cy="20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2" descr=""/>
          <p:cNvPicPr/>
          <p:nvPr/>
        </p:nvPicPr>
        <p:blipFill>
          <a:blip r:embed="rId2"/>
          <a:stretch/>
        </p:blipFill>
        <p:spPr>
          <a:xfrm>
            <a:off x="4427640" y="4191120"/>
            <a:ext cx="4071960" cy="210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7" dur="indefinite" restart="never" nodeType="tmRoot">
          <p:childTnLst>
            <p:seq>
              <p:cTn id="478" dur="indefinite" nodeType="mainSeq">
                <p:childTnLst>
                  <p:par>
                    <p:cTn id="479" nodeType="clickEffect" fill="hold">
                      <p:stCondLst>
                        <p:cond delay="indefinite"/>
                      </p:stCondLst>
                      <p:childTnLst>
                        <p:par>
                          <p:cTn id="4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nodeType="clickEffect" fill="hold">
                      <p:stCondLst>
                        <p:cond delay="indefinite"/>
                      </p:stCondLst>
                      <p:childTnLst>
                        <p:par>
                          <p:cTn id="4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nodeType="clickEffect" fill="hold">
                      <p:stCondLst>
                        <p:cond delay="indefinite"/>
                      </p:stCondLst>
                      <p:childTnLst>
                        <p:par>
                          <p:cTn id="4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55560" y="19008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Memory Layout for Multi-programmed System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4" descr=""/>
          <p:cNvPicPr/>
          <p:nvPr/>
        </p:nvPicPr>
        <p:blipFill>
          <a:blip r:embed="rId1"/>
          <a:stretch/>
        </p:blipFill>
        <p:spPr>
          <a:xfrm>
            <a:off x="1033560" y="1262160"/>
            <a:ext cx="2814480" cy="433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Box 5"/>
          <p:cNvSpPr/>
          <p:nvPr/>
        </p:nvSpPr>
        <p:spPr>
          <a:xfrm>
            <a:off x="844560" y="5803200"/>
            <a:ext cx="7454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Several jobs are kept in main memory at the same time, and the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CPU is multiplexed among them.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72" name="Picture 1031" descr=""/>
          <p:cNvPicPr/>
          <p:nvPr/>
        </p:nvPicPr>
        <p:blipFill>
          <a:blip r:embed="rId2"/>
          <a:srcRect l="28366" t="1008" r="28204" b="805"/>
          <a:stretch/>
        </p:blipFill>
        <p:spPr>
          <a:xfrm>
            <a:off x="6172200" y="1479600"/>
            <a:ext cx="2174760" cy="393228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</p:pic>
      <p:sp>
        <p:nvSpPr>
          <p:cNvPr id="273" name="Rectangle 1"/>
          <p:cNvSpPr/>
          <p:nvPr/>
        </p:nvSpPr>
        <p:spPr>
          <a:xfrm>
            <a:off x="5816880" y="941400"/>
            <a:ext cx="250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Simple Batch 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552600" y="941400"/>
            <a:ext cx="4768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Multi-programmed Batch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3" dur="indefinite" restart="never" nodeType="tmRoot">
          <p:childTnLst>
            <p:seq>
              <p:cTn id="494" dur="indefinite" nodeType="mainSeq">
                <p:childTnLst>
                  <p:par>
                    <p:cTn id="495" nodeType="clickEffect" fill="hold">
                      <p:stCondLst>
                        <p:cond delay="indefinite"/>
                      </p:stCondLst>
                      <p:childTnLst>
                        <p:par>
                          <p:cTn id="4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nodeType="clickEffect" fill="hold">
                      <p:stCondLst>
                        <p:cond delay="indefinite"/>
                      </p:stCondLst>
                      <p:childTnLst>
                        <p:par>
                          <p:cTn id="5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nodeType="clickEffect" fill="hold">
                      <p:stCondLst>
                        <p:cond delay="indefinite"/>
                      </p:stCondLst>
                      <p:childTnLst>
                        <p:par>
                          <p:cTn id="5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52080" y="277920"/>
            <a:ext cx="8334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Multitasking 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276" name="Picture 2" descr="https://www.geeksforgeeks.org/wp-content/uploads/multiprogramming.jpg"/>
          <p:cNvPicPr/>
          <p:nvPr/>
        </p:nvPicPr>
        <p:blipFill>
          <a:blip r:embed="rId1"/>
          <a:srcRect l="11552" t="0" r="5576" b="8151"/>
          <a:stretch/>
        </p:blipFill>
        <p:spPr>
          <a:xfrm>
            <a:off x="1279440" y="1460520"/>
            <a:ext cx="6710400" cy="438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3" dur="indefinite" restart="never" nodeType="tmRoot">
          <p:childTnLst>
            <p:seq>
              <p:cTn id="514" dur="indefinite" nodeType="mainSeq">
                <p:childTnLst>
                  <p:par>
                    <p:cTn id="515" nodeType="clickEffect" fill="hold">
                      <p:stCondLst>
                        <p:cond delay="indefinite"/>
                      </p:stCondLst>
                      <p:childTnLst>
                        <p:par>
                          <p:cTn id="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819000" y="151920"/>
            <a:ext cx="725832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Traditional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53920" y="1137960"/>
            <a:ext cx="8004240" cy="453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Stand-alone general-purpose machines: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Normal computers like desktops and laptops that can work on their own.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700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But blurred now: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Today, even stand-alone computers are usually connected to other systems through the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Internet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Portals: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Websites that give users access to internal company or university systems. Example: a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 portal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Network computers / thin clients: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Simple computers that depend heavily on a central server for processing or data. Example: computers in a computer lab connected to one main server.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Mobile computers: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Phones and laptops connect using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Wi-Fi or mobile networks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Networking is everywhere: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Almost every computer is connected to a network now.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Firewalls: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Protect computers and networks from unwanted or malicious Internet traffic.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Traditional computing = normal computers connected through networks, with web access and security protection.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9" name="Group 1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80" name="Rectangle: Rounded Corners 2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81" name="Rectangle: Rounded Corners 3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82" name="Rectangle: Rounded Corners 4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283" name="Straight Connector 5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9" dur="indefinite" restart="never" nodeType="tmRoot">
          <p:childTnLst>
            <p:seq>
              <p:cTn id="520" dur="indefinite" nodeType="mainSeq">
                <p:childTnLst>
                  <p:par>
                    <p:cTn id="521" nodeType="clickEffect" fill="hold">
                      <p:stCondLst>
                        <p:cond delay="indefinite"/>
                      </p:stCondLst>
                      <p:childTnLst>
                        <p:par>
                          <p:cTn id="5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nodeType="clickEffect" fill="hold">
                      <p:stCondLst>
                        <p:cond delay="indefinite"/>
                      </p:stCondLst>
                      <p:childTnLst>
                        <p:par>
                          <p:cTn id="5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nodeType="clickEffect" fill="hold">
                      <p:stCondLst>
                        <p:cond delay="indefinite"/>
                      </p:stCondLst>
                      <p:childTnLst>
                        <p:par>
                          <p:cTn id="5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nodeType="clickEffect" fill="hold">
                      <p:stCondLst>
                        <p:cond delay="indefinite"/>
                      </p:stCondLst>
                      <p:childTnLst>
                        <p:par>
                          <p:cTn id="5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08120" y="1303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– Distributed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38080" y="1091880"/>
            <a:ext cx="7313760" cy="453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Distributed computing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Collection of separate, possibly heterogeneous, systems networked together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Network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is a communications path,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TCP/IP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most common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lnSpc>
                <a:spcPct val="100000"/>
              </a:lnSpc>
              <a:spcBef>
                <a:spcPts val="788"/>
              </a:spcBef>
              <a:buClr>
                <a:srgbClr val="ffcc00"/>
              </a:buClr>
              <a:buSzPct val="75000"/>
              <a:buFont typeface="Helvetica (Body)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Local Area Network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LAN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lnSpc>
                <a:spcPct val="100000"/>
              </a:lnSpc>
              <a:spcBef>
                <a:spcPts val="788"/>
              </a:spcBef>
              <a:buClr>
                <a:srgbClr val="ffcc00"/>
              </a:buClr>
              <a:buSzPct val="75000"/>
              <a:buFont typeface="Helvetica (Body)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Wide Area Network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WAN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lnSpc>
                <a:spcPct val="100000"/>
              </a:lnSpc>
              <a:spcBef>
                <a:spcPts val="788"/>
              </a:spcBef>
              <a:buClr>
                <a:srgbClr val="ffcc00"/>
              </a:buClr>
              <a:buSzPct val="75000"/>
              <a:buFont typeface="Helvetica (Body)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Metropolitan Area Network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MAN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lnSpc>
                <a:spcPct val="100000"/>
              </a:lnSpc>
              <a:spcBef>
                <a:spcPts val="788"/>
              </a:spcBef>
              <a:buClr>
                <a:srgbClr val="ffcc00"/>
              </a:buClr>
              <a:buSzPct val="75000"/>
              <a:buFont typeface="Helvetica (Body)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Personal Area Network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PAN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Network Operating System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provides communication and resource-sharing features between these computers.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 key idea of “illusion of a single system” is: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27040" indent="-226800">
              <a:lnSpc>
                <a:spcPct val="100000"/>
              </a:lnSpc>
              <a:spcBef>
                <a:spcPts val="788"/>
              </a:spcBef>
              <a:buClr>
                <a:srgbClr val="ffcc00"/>
              </a:buClr>
              <a:buSzPct val="75000"/>
              <a:buFont typeface="Helvetica (Body)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Even though many computers are working behind the scenes, the user may feel they are using one system.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Example: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Google Drive uses many servers, but to you it looks like one service.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287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88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89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90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919080" y="136080"/>
            <a:ext cx="761544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– Client-Server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874800" y="1166760"/>
            <a:ext cx="7351560" cy="46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Client-Server Computing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Dumb terminals supplanted by smart PCs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Many systems now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servers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, responding to requests generated by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clients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5760" indent="-22860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Compute-server system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provides an interface to client to request services (i.e., database)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085760" indent="-228600">
              <a:lnSpc>
                <a:spcPct val="9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File-server system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provides interface for clients to store and retrieve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pic>
        <p:nvPicPr>
          <p:cNvPr id="293" name="Picture 1" descr="1_18.pdf"/>
          <p:cNvPicPr/>
          <p:nvPr/>
        </p:nvPicPr>
        <p:blipFill>
          <a:blip r:embed="rId1"/>
          <a:stretch/>
        </p:blipFill>
        <p:spPr>
          <a:xfrm>
            <a:off x="2081160" y="3805200"/>
            <a:ext cx="4610160" cy="200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295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296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97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298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49160" y="169560"/>
            <a:ext cx="76456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Peer-to-Peer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15440" y="1163520"/>
            <a:ext cx="559764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P2P: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 type of distributed system.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No fixed client/server: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All nodes are peers.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Each peer can act as a client, server, or both.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 peer must join the P2P network.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788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Peers find services using a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central lookup or discovery protocol.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Examples: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Napster, Gnutella, and early Skype/VoIP.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Picture 1" descr="1_19.pdf"/>
          <p:cNvPicPr/>
          <p:nvPr/>
        </p:nvPicPr>
        <p:blipFill>
          <a:blip r:embed="rId1"/>
          <a:stretch/>
        </p:blipFill>
        <p:spPr>
          <a:xfrm>
            <a:off x="6059520" y="1984320"/>
            <a:ext cx="2668680" cy="20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03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04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05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06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57200" y="15192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Mobile</a:t>
            </a:r>
            <a:endParaRPr b="1" lang="en-US" sz="28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853920" y="1122120"/>
            <a:ext cx="7699680" cy="453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Mobile devices include smartphones and tablets.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Compared with traditional laptops, they have extra built-in sensors such as GPS, gyroscope, camera, accelerometer, etc.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These extra features allow apps like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augmented reality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, navigation, fitness tracking, and location-based services.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They connect using Wi-Fi (IEEE 802.11) or cellular networks like 4G/5G.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 main mobile operating systems are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Arial"/>
                <a:ea typeface="Times New Roman"/>
              </a:rPr>
              <a:t>Apple iOS and Google Android.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Mobile computing = portable devices + wireless connectivity + special sensors + mobile operating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“what is the functional difference from a laptop?”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mainly points to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mobility, touch interface, sensors, battery constraints, and cellular connectivity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10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11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12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13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5" dur="indefinite" restart="never" nodeType="tmRoot">
          <p:childTnLst>
            <p:seq>
              <p:cTn id="546" dur="indefinite" nodeType="mainSeq">
                <p:childTnLst>
                  <p:par>
                    <p:cTn id="547" nodeType="clickEffect" fill="hold">
                      <p:stCondLst>
                        <p:cond delay="indefinite"/>
                      </p:stCondLst>
                      <p:childTnLst>
                        <p:par>
                          <p:cTn id="5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nodeType="clickEffect" fill="hold">
                      <p:stCondLst>
                        <p:cond delay="indefinite"/>
                      </p:stCondLst>
                      <p:childTnLst>
                        <p:par>
                          <p:cTn id="5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nodeType="clickEffect" fill="hold">
                      <p:stCondLst>
                        <p:cond delay="indefinite"/>
                      </p:stCondLst>
                      <p:childTnLst>
                        <p:par>
                          <p:cTn id="5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221760" y="228240"/>
            <a:ext cx="882972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– Real-Time Embedded Systems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853560" y="1153800"/>
            <a:ext cx="7890120" cy="453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Embedded system: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computer built inside a device for a specific job, such as a car ABS system, washing machine, medical device, or traffic signal.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 embedded systems use a small/special-purpose OS; some may run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without a full OS.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Real-Time Operating System (RTOS)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 designed to respond within a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fixed deadline.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result is considered correct only if it is produced </a:t>
            </a: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on time.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just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Example: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a car’s airbag system, detecting a crash after 5 seconds is useless. The system must respond within milliseconds.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the key idea is: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Real-time = correct result + correct timing.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17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18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19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20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9" dur="indefinite" restart="never" nodeType="tmRoot">
          <p:childTnLst>
            <p:seq>
              <p:cTn id="570" dur="indefinite" nodeType="mainSeq">
                <p:childTnLst>
                  <p:par>
                    <p:cTn id="571" nodeType="clickEffect" fill="hold">
                      <p:stCondLst>
                        <p:cond delay="indefinite"/>
                      </p:stCondLst>
                      <p:childTnLst>
                        <p:par>
                          <p:cTn id="5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nodeType="clickEffect" fill="hold">
                      <p:stCondLst>
                        <p:cond delay="indefinite"/>
                      </p:stCondLst>
                      <p:childTnLst>
                        <p:par>
                          <p:cTn id="5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nodeType="clickEffect" fill="hold">
                      <p:stCondLst>
                        <p:cond delay="indefinite"/>
                      </p:stCondLst>
                      <p:childTnLst>
                        <p:par>
                          <p:cTn id="5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nodeType="clickEffect" fill="hold">
                      <p:stCondLst>
                        <p:cond delay="indefinite"/>
                      </p:stCondLst>
                      <p:childTnLst>
                        <p:par>
                          <p:cTn id="5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nodeType="clickEffect" fill="hold">
                      <p:stCondLst>
                        <p:cond delay="indefinite"/>
                      </p:stCondLst>
                      <p:childTnLst>
                        <p:par>
                          <p:cTn id="5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Real-Time Systems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49000" y="1117440"/>
            <a:ext cx="84438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Often used as a control device in a dedicated application such as controlling scientific experiments, medical imaging systems, industrial control systems, and some display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Well-defined fixed-time constraints.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Real-Time systems may be either </a:t>
            </a:r>
            <a:r>
              <a:rPr b="1" i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hard or soft real-time.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Picture 1" descr=""/>
          <p:cNvPicPr/>
          <p:nvPr/>
        </p:nvPicPr>
        <p:blipFill>
          <a:blip r:embed="rId1"/>
          <a:stretch/>
        </p:blipFill>
        <p:spPr>
          <a:xfrm>
            <a:off x="355680" y="3530520"/>
            <a:ext cx="523872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Picture 2" descr=""/>
          <p:cNvPicPr/>
          <p:nvPr/>
        </p:nvPicPr>
        <p:blipFill>
          <a:blip r:embed="rId2"/>
          <a:stretch/>
        </p:blipFill>
        <p:spPr>
          <a:xfrm>
            <a:off x="5594400" y="3530520"/>
            <a:ext cx="3000240" cy="152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3" descr=""/>
          <p:cNvPicPr/>
          <p:nvPr/>
        </p:nvPicPr>
        <p:blipFill>
          <a:blip r:embed="rId3"/>
          <a:stretch/>
        </p:blipFill>
        <p:spPr>
          <a:xfrm>
            <a:off x="5594400" y="4987800"/>
            <a:ext cx="3398760" cy="171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27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28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29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30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806040" y="169560"/>
            <a:ext cx="764532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Virtualization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806400" y="923760"/>
            <a:ext cx="795672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341280" indent="-341280" algn="just">
              <a:lnSpc>
                <a:spcPct val="100000"/>
              </a:lnSpc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Virtualization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means running one or more </a:t>
            </a: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virtual computers/operating systems inside another computer.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612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lnSpc>
                <a:spcPct val="100000"/>
              </a:lnSpc>
              <a:spcBef>
                <a:spcPts val="612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Your real laptop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Host OS: Windows 11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VirtualBox/VMware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Guest OS 1: Ubuntu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Guest OS 2: Windows Server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spcBef>
                <a:spcPts val="6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 one physical machine can behave like several separate computers.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Host OS: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main OS installed on the real computer.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Guest OS: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the OS running inside the virtual machine.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VMM / Hypervisor: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software that creates and manages virtual machines, such as VMware or VirtualBox.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Emulation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is different: it imitates a different CPU/hardware architecture, so it is usually slower.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spcBef>
                <a:spcPts val="612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612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Emulation: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ARM/Mac system imitating an Intel x86 machine.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-227160">
              <a:spcBef>
                <a:spcPts val="612"/>
              </a:spcBef>
              <a:buClr>
                <a:srgbClr val="009900"/>
              </a:buClr>
              <a:buSzPct val="75000"/>
              <a:buFont typeface="Webdings" charset="2"/>
              <a:buChar char="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Virtualization: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Intel/x86 computer running another x86 operating system virtually.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0">
              <a:spcBef>
                <a:spcPts val="612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 algn="ctr"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Playing a PlayStation 2 game on a PC using a PS2 emulator. Your PC does not have PS2 hardware, so the emulator imitates the PS2 hardware/CPU so the game can run.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Virtualization = same/similar hardware, multiple virtual OSs.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Bef>
                <a:spcPts val="612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Emulation = imitate different hardware/CPU.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0">
              <a:spcBef>
                <a:spcPts val="612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34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35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36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37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5" dur="indefinite" restart="never" nodeType="tmRoot">
          <p:childTnLst>
            <p:seq>
              <p:cTn id="596" dur="indefinite" nodeType="mainSeq">
                <p:childTnLst>
                  <p:par>
                    <p:cTn id="597" nodeType="clickEffect" fill="hold">
                      <p:stCondLst>
                        <p:cond delay="indefinite"/>
                      </p:stCondLst>
                      <p:childTnLst>
                        <p:par>
                          <p:cTn id="5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nodeType="clickEffect" fill="hold">
                      <p:stCondLst>
                        <p:cond delay="indefinite"/>
                      </p:stCondLst>
                      <p:childTnLst>
                        <p:par>
                          <p:cTn id="6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nodeType="clickEffect" fill="hold">
                      <p:stCondLst>
                        <p:cond delay="indefinite"/>
                      </p:stCondLst>
                      <p:childTnLst>
                        <p:par>
                          <p:cTn id="6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nodeType="clickEffect" fill="hold">
                      <p:stCondLst>
                        <p:cond delay="indefinite"/>
                      </p:stCondLst>
                      <p:childTnLst>
                        <p:par>
                          <p:cTn id="6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nodeType="clickEffect" fill="hold">
                      <p:stCondLst>
                        <p:cond delay="indefinite"/>
                      </p:stCondLst>
                      <p:childTnLst>
                        <p:par>
                          <p:cTn id="6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nodeType="clickEffect" fill="hold">
                      <p:stCondLst>
                        <p:cond delay="indefinite"/>
                      </p:stCondLst>
                      <p:childTnLst>
                        <p:par>
                          <p:cTn id="6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nodeType="clickEffect" fill="hold">
                      <p:stCondLst>
                        <p:cond delay="indefinite"/>
                      </p:stCondLst>
                      <p:childTnLst>
                        <p:par>
                          <p:cTn id="6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918720" y="149400"/>
            <a:ext cx="7645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Virtualization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475920" y="1233360"/>
            <a:ext cx="853452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Use cases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involve laptops and desktops running multiple OSes for exploration or compatibility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Apple laptop running Mac OS X host, Windows as a guest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Developing apps for multiple OSes without having multiple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QA testing applications without having multiple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Executing and managing compute environments within data centers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VMM can run natively, in which case they are also the host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There is no general purpose host then (VMware ESX and Citrix XenServer)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84320"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41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42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43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44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9" dur="indefinite" restart="never" nodeType="tmRoot">
          <p:childTnLst>
            <p:seq>
              <p:cTn id="640" dur="indefinite" nodeType="mainSeq">
                <p:childTnLst>
                  <p:par>
                    <p:cTn id="641" nodeType="clickEffect" fill="hold">
                      <p:stCondLst>
                        <p:cond delay="indefinite"/>
                      </p:stCondLst>
                      <p:childTnLst>
                        <p:par>
                          <p:cTn id="6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nodeType="clickEffect" fill="hold">
                      <p:stCondLst>
                        <p:cond delay="indefinite"/>
                      </p:stCondLst>
                      <p:childTnLst>
                        <p:par>
                          <p:cTn id="6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nodeType="clickEffect" fill="hold">
                      <p:stCondLst>
                        <p:cond delay="indefinite"/>
                      </p:stCondLst>
                      <p:childTnLst>
                        <p:par>
                          <p:cTn id="6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925200" y="235080"/>
            <a:ext cx="7645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- Virtualization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pic>
        <p:nvPicPr>
          <p:cNvPr id="346" name="Picture 1" descr="1_20.pdf"/>
          <p:cNvPicPr/>
          <p:nvPr/>
        </p:nvPicPr>
        <p:blipFill>
          <a:blip r:embed="rId1"/>
          <a:stretch/>
        </p:blipFill>
        <p:spPr>
          <a:xfrm>
            <a:off x="1407960" y="1554120"/>
            <a:ext cx="6396120" cy="433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918720" y="146160"/>
            <a:ext cx="7645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– Cloud Computing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806400" y="1060200"/>
            <a:ext cx="7880400" cy="51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Delivers computing, storage, even apps as a service across a network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Logical extension of virtualization because it uses virtualization as the base for it functionality.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Amazon 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EC2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 has thousands of servers, millions of virtual machines, petabytes of storage available across the Internet, pay based on usage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Many types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Public cloud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available via Internet to anyone willing to pay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Private cloud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run by a company for the company’s own use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Hybrid cloud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– includes both public and private cloud components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Cloud Services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Software as a Service 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SaaS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 – one or more applications available via the Internet (i.e., word processor)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Platform as a Service 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PaaS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 – software stack ready for application use via the Internet (i.e., a database server)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Infrastructure as a Service (</a:t>
            </a:r>
            <a:r>
              <a:rPr b="1" lang="en-US" sz="18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IaaS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) – servers or storage available over Internet (i.e., storage available for backup use)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50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51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52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53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1" dur="indefinite" restart="never" nodeType="tmRoot">
          <p:childTnLst>
            <p:seq>
              <p:cTn id="662" dur="indefinite" nodeType="mainSeq">
                <p:childTnLst>
                  <p:par>
                    <p:cTn id="663" nodeType="clickEffect" fill="hold">
                      <p:stCondLst>
                        <p:cond delay="indefinite"/>
                      </p:stCondLst>
                      <p:childTnLst>
                        <p:par>
                          <p:cTn id="6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5" nodeType="clickEffect" fill="hold">
                      <p:stCondLst>
                        <p:cond delay="indefinite"/>
                      </p:stCondLst>
                      <p:childTnLst>
                        <p:par>
                          <p:cTn id="6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nodeType="clickEffect" fill="hold">
                      <p:stCondLst>
                        <p:cond delay="indefinite"/>
                      </p:stCondLst>
                      <p:childTnLst>
                        <p:par>
                          <p:cTn id="6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3" nodeType="clickEffect" fill="hold">
                      <p:stCondLst>
                        <p:cond delay="indefinite"/>
                      </p:stCondLst>
                      <p:childTnLst>
                        <p:par>
                          <p:cTn id="6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853920" y="167760"/>
            <a:ext cx="764568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Computing Environments – Cloud Computing</a:t>
            </a:r>
            <a:endParaRPr b="1" lang="en-US" sz="2400" strike="noStrike" u="none">
              <a:solidFill>
                <a:srgbClr val="006699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853560" y="1092240"/>
            <a:ext cx="7155000" cy="15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1280" indent="-341280" algn="just">
              <a:lnSpc>
                <a:spcPct val="100000"/>
              </a:lnSpc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Cloud computing environments composed of traditional OSes, plus VMMs, plus cloud management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 algn="just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Internet connectivity requires security like firewalls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1240" indent="-284040" algn="just">
              <a:lnSpc>
                <a:spcPct val="100000"/>
              </a:lnSpc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Load balancers spread traffic across multiple applications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Picture 1" descr="1_21.pdf"/>
          <p:cNvPicPr/>
          <p:nvPr/>
        </p:nvPicPr>
        <p:blipFill>
          <a:blip r:embed="rId1"/>
          <a:stretch/>
        </p:blipFill>
        <p:spPr>
          <a:xfrm>
            <a:off x="2427120" y="2800440"/>
            <a:ext cx="4119840" cy="32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58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59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60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61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traight Connector 1"/>
          <p:cNvSpPr/>
          <p:nvPr/>
        </p:nvSpPr>
        <p:spPr>
          <a:xfrm>
            <a:off x="919080" y="835200"/>
            <a:ext cx="73058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63" name="Group 2"/>
          <p:cNvGrpSpPr/>
          <p:nvPr/>
        </p:nvGrpSpPr>
        <p:grpSpPr>
          <a:xfrm>
            <a:off x="1080" y="0"/>
            <a:ext cx="227160" cy="6842160"/>
            <a:chOff x="1080" y="0"/>
            <a:chExt cx="227160" cy="6842160"/>
          </a:xfrm>
        </p:grpSpPr>
        <p:sp>
          <p:nvSpPr>
            <p:cNvPr id="364" name="Rectangle: Rounded Corners 3"/>
            <p:cNvSpPr/>
            <p:nvPr/>
          </p:nvSpPr>
          <p:spPr>
            <a:xfrm rot="5400000">
              <a:off x="-922320" y="3358800"/>
              <a:ext cx="2068560" cy="22104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65" name="Rectangle: Rounded Corners 4"/>
            <p:cNvSpPr/>
            <p:nvPr/>
          </p:nvSpPr>
          <p:spPr>
            <a:xfrm rot="5400000">
              <a:off x="-1115280" y="549864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66" name="Rectangle: Rounded Corners 5"/>
            <p:cNvSpPr/>
            <p:nvPr/>
          </p:nvSpPr>
          <p:spPr>
            <a:xfrm rot="5400000">
              <a:off x="-1115280" y="1116360"/>
              <a:ext cx="2459880" cy="22716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  <p:sp>
        <p:nvSpPr>
          <p:cNvPr id="367" name="Title 1"/>
          <p:cNvSpPr/>
          <p:nvPr/>
        </p:nvSpPr>
        <p:spPr>
          <a:xfrm>
            <a:off x="457200" y="76320"/>
            <a:ext cx="8229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0" anchor="b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100" strike="noStrike" u="none">
                <a:solidFill>
                  <a:srgbClr val="006699"/>
                </a:solidFill>
                <a:effectLst/>
                <a:uFillTx/>
                <a:latin typeface="Times New Roman"/>
                <a:ea typeface="Times New Roman"/>
              </a:rPr>
              <a:t>Open-Source Operating Systems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68" name="Content Placeholder 2"/>
          <p:cNvSpPr/>
          <p:nvPr/>
        </p:nvSpPr>
        <p:spPr>
          <a:xfrm>
            <a:off x="457200" y="1033560"/>
            <a:ext cx="8229600" cy="51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72880" indent="-272880">
              <a:lnSpc>
                <a:spcPct val="15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Open-source OS: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Source code is available to everyone.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272880" indent="-272880">
              <a:lnSpc>
                <a:spcPct val="15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Users can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study, modify, and share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 the code.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639720" indent="-245880">
              <a:lnSpc>
                <a:spcPct val="15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FSF: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Organization that promotes free software.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639720" indent="-245880">
              <a:lnSpc>
                <a:spcPct val="15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GPL: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License that allows software to be used and modified.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639720" indent="-245880">
              <a:lnSpc>
                <a:spcPct val="15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Copyleft: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Shared modified versions must also stay free/open.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639720" indent="-245880">
              <a:lnSpc>
                <a:spcPct val="150000"/>
              </a:lnSpc>
              <a:spcBef>
                <a:spcPts val="876"/>
              </a:spcBef>
              <a:buClr>
                <a:srgbClr val="cc66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Closed-source software: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</a:rPr>
              <a:t>Source code is hidden from users.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272880" indent="-272880">
              <a:lnSpc>
                <a:spcPct val="150000"/>
              </a:lnSpc>
              <a:spcBef>
                <a:spcPts val="876"/>
              </a:spcBef>
              <a:buClr>
                <a:srgbClr val="993300"/>
              </a:buClr>
              <a:buSzPct val="90000"/>
              <a:buFont typeface="Monotype Sort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366ff"/>
                </a:solidFill>
                <a:effectLst/>
                <a:uFillTx/>
                <a:latin typeface="Helvetica (Body)"/>
                <a:ea typeface="Times New Roman"/>
              </a:rPr>
              <a:t>Examples: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Helvetica (Body)"/>
                <a:ea typeface="Times New Roman"/>
              </a:rPr>
              <a:t>GNU/Linux, BSD UNIX (including core of Mac OS X), and Sun Solaris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2"/>
          <p:cNvSpPr/>
          <p:nvPr/>
        </p:nvSpPr>
        <p:spPr>
          <a:xfrm>
            <a:off x="452520" y="2459160"/>
            <a:ext cx="7772400" cy="21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6699"/>
                </a:solidFill>
                <a:effectLst/>
                <a:uFillTx/>
                <a:latin typeface="Arial"/>
              </a:rPr>
              <a:t>End of Lecture 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grpSp>
        <p:nvGrpSpPr>
          <p:cNvPr id="370" name="Group 7"/>
          <p:cNvGrpSpPr/>
          <p:nvPr/>
        </p:nvGrpSpPr>
        <p:grpSpPr>
          <a:xfrm>
            <a:off x="49320" y="3086280"/>
            <a:ext cx="9045360" cy="195120"/>
            <a:chOff x="49320" y="3086280"/>
            <a:chExt cx="9045360" cy="195120"/>
          </a:xfrm>
        </p:grpSpPr>
        <p:sp>
          <p:nvSpPr>
            <p:cNvPr id="371" name="Rectangle: Rounded Corners 8"/>
            <p:cNvSpPr/>
            <p:nvPr/>
          </p:nvSpPr>
          <p:spPr>
            <a:xfrm>
              <a:off x="3268080" y="3091320"/>
              <a:ext cx="2734560" cy="190080"/>
            </a:xfrm>
            <a:prstGeom prst="roundRect">
              <a:avLst>
                <a:gd name="adj" fmla="val 16667"/>
              </a:avLst>
            </a:prstGeom>
            <a:solidFill>
              <a:srgbClr val="66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72" name="Rectangle: Rounded Corners 9"/>
            <p:cNvSpPr/>
            <p:nvPr/>
          </p:nvSpPr>
          <p:spPr>
            <a:xfrm>
              <a:off x="5842800" y="3086280"/>
              <a:ext cx="3251880" cy="19512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  <p:sp>
          <p:nvSpPr>
            <p:cNvPr id="373" name="Rectangle: Rounded Corners 10"/>
            <p:cNvSpPr/>
            <p:nvPr/>
          </p:nvSpPr>
          <p:spPr>
            <a:xfrm>
              <a:off x="49320" y="3086280"/>
              <a:ext cx="3251880" cy="19512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  <dc:description/>
  <dc:language>en-US</dc:language>
  <cp:lastModifiedBy>Amna Sarwar</cp:lastModifiedBy>
  <cp:lastPrinted>2013-09-10T17:57:57Z</cp:lastPrinted>
  <dcterms:modified xsi:type="dcterms:W3CDTF">2026-09-18T06:11:38Z</dcterms:modified>
  <cp:revision>345</cp:revision>
  <dc:subject/>
  <dc:title>2.01</dc:title>
</cp:coreProperties>
</file>