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1"/>
  </p:sldMasterIdLst>
  <p:notesMasterIdLst>
    <p:notesMasterId r:id="rId12"/>
  </p:notesMasterIdLst>
  <p:sldIdLst>
    <p:sldId id="256" r:id="rId2"/>
    <p:sldId id="279" r:id="rId3"/>
    <p:sldId id="490" r:id="rId4"/>
    <p:sldId id="488" r:id="rId5"/>
    <p:sldId id="491" r:id="rId6"/>
    <p:sldId id="492" r:id="rId7"/>
    <p:sldId id="495" r:id="rId8"/>
    <p:sldId id="1229" r:id="rId9"/>
    <p:sldId id="1230" r:id="rId10"/>
    <p:sldId id="28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094" autoAdjust="0"/>
  </p:normalViewPr>
  <p:slideViewPr>
    <p:cSldViewPr snapToGrid="0">
      <p:cViewPr>
        <p:scale>
          <a:sx n="40" d="100"/>
          <a:sy n="40" d="100"/>
        </p:scale>
        <p:origin x="86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212C57-751D-4005-9E96-0F1C5D57E7C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2A1EB9-6781-4BFD-9B0A-FAA1D0A66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56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82511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01579D7-51E9-4B7E-AC99-DFF892E1C233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67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01579D7-51E9-4B7E-AC99-DFF892E1C233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072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22848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9D9AD0FF-B6F6-4204-961C-ED589AF6F4F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41BB1-E1C7-41B5-AB29-6FDC65381F07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41908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AD0FF-B6F6-4204-961C-ED589AF6F4F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41BB1-E1C7-41B5-AB29-6FDC65381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809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9D9AD0FF-B6F6-4204-961C-ED589AF6F4F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41BB1-E1C7-41B5-AB29-6FDC65381F07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691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9D9AD0FF-B6F6-4204-961C-ED589AF6F4F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14441BB1-E1C7-41B5-AB29-6FDC65381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425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AD0FF-B6F6-4204-961C-ED589AF6F4F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41BB1-E1C7-41B5-AB29-6FDC65381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665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9D9AD0FF-B6F6-4204-961C-ED589AF6F4F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441BB1-E1C7-41B5-AB29-6FDC65381F0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13037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9D9AD0FF-B6F6-4204-961C-ED589AF6F4F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14441BB1-E1C7-41B5-AB29-6FDC65381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7595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AD0FF-B6F6-4204-961C-ED589AF6F4F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41BB1-E1C7-41B5-AB29-6FDC65381F0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37780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9D9AD0FF-B6F6-4204-961C-ED589AF6F4F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14441BB1-E1C7-41B5-AB29-6FDC65381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94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9D9AD0FF-B6F6-4204-961C-ED589AF6F4F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41BB1-E1C7-41B5-AB29-6FDC65381F07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49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AD0FF-B6F6-4204-961C-ED589AF6F4F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41BB1-E1C7-41B5-AB29-6FDC65381F07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05703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AD0FF-B6F6-4204-961C-ED589AF6F4F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41BB1-E1C7-41B5-AB29-6FDC65381F0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483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9D9AD0FF-B6F6-4204-961C-ED589AF6F4F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14441BB1-E1C7-41B5-AB29-6FDC65381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5664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9D9AD0FF-B6F6-4204-961C-ED589AF6F4F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14441BB1-E1C7-41B5-AB29-6FDC65381F07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310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9D9AD0FF-B6F6-4204-961C-ED589AF6F4F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14441BB1-E1C7-41B5-AB29-6FDC65381F0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81466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9D9AD0FF-B6F6-4204-961C-ED589AF6F4F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14441BB1-E1C7-41B5-AB29-6FDC65381F0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76700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AD0FF-B6F6-4204-961C-ED589AF6F4F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41BB1-E1C7-41B5-AB29-6FDC65381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225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AD0FF-B6F6-4204-961C-ED589AF6F4F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41BB1-E1C7-41B5-AB29-6FDC65381F0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625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D9AD0FF-B6F6-4204-961C-ED589AF6F4F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441BB1-E1C7-41B5-AB29-6FDC65381F07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787775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9D9AD0FF-B6F6-4204-961C-ED589AF6F4F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14441BB1-E1C7-41B5-AB29-6FDC65381F07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2095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D9AD0FF-B6F6-4204-961C-ED589AF6F4F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441BB1-E1C7-41B5-AB29-6FDC65381F0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669557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AD0FF-B6F6-4204-961C-ED589AF6F4F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41BB1-E1C7-41B5-AB29-6FDC65381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7018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AD0FF-B6F6-4204-961C-ED589AF6F4F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41BB1-E1C7-41B5-AB29-6FDC65381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3618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AD0FF-B6F6-4204-961C-ED589AF6F4F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41BB1-E1C7-41B5-AB29-6FDC65381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2052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AD0FF-B6F6-4204-961C-ED589AF6F4F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41BB1-E1C7-41B5-AB29-6FDC65381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931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D9AD0FF-B6F6-4204-961C-ED589AF6F4F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441BB1-E1C7-41B5-AB29-6FDC65381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3922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D9AD0FF-B6F6-4204-961C-ED589AF6F4F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441BB1-E1C7-41B5-AB29-6FDC65381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8344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9D9AD0FF-B6F6-4204-961C-ED589AF6F4F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14441BB1-E1C7-41B5-AB29-6FDC65381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922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6" r:id="rId20"/>
    <p:sldLayoutId id="2147483737" r:id="rId21"/>
    <p:sldLayoutId id="2147483738" r:id="rId22"/>
    <p:sldLayoutId id="2147483739" r:id="rId23"/>
    <p:sldLayoutId id="2147483740" r:id="rId24"/>
    <p:sldLayoutId id="2147483741" r:id="rId25"/>
    <p:sldLayoutId id="2147483742" r:id="rId26"/>
    <p:sldLayoutId id="2147483743" r:id="rId27"/>
  </p:sldLayoutIdLst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87C42-7976-175C-41AC-76BDEA7A7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&amp; Analysis of Algorithms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BC30F5-C96A-3C3C-D41B-2493A5F75F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Asra Masood</a:t>
            </a:r>
          </a:p>
          <a:p>
            <a:r>
              <a:rPr lang="en-US" dirty="0"/>
              <a:t>Fall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77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91512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Insertion Sort</a:t>
            </a:r>
            <a:r>
              <a:rPr lang="en-US" dirty="0"/>
              <a:t>: </a:t>
            </a:r>
            <a:r>
              <a:rPr dirty="0"/>
              <a:t> 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77991" y="1486301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dirty="0"/>
              <a:t>for j = 2 to n: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    key = A[j]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    </a:t>
            </a:r>
            <a:r>
              <a:rPr dirty="0" err="1"/>
              <a:t>i</a:t>
            </a:r>
            <a:r>
              <a:rPr dirty="0"/>
              <a:t> = j - 1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    while </a:t>
            </a:r>
            <a:r>
              <a:rPr dirty="0" err="1"/>
              <a:t>i</a:t>
            </a:r>
            <a:r>
              <a:rPr dirty="0"/>
              <a:t> &gt; 0 and A[</a:t>
            </a:r>
            <a:r>
              <a:rPr dirty="0" err="1"/>
              <a:t>i</a:t>
            </a:r>
            <a:r>
              <a:rPr dirty="0"/>
              <a:t>] &gt; key: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        A[i+1] = A[</a:t>
            </a:r>
            <a:r>
              <a:rPr dirty="0" err="1"/>
              <a:t>i</a:t>
            </a:r>
            <a:r>
              <a:rPr dirty="0"/>
              <a:t>]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        </a:t>
            </a:r>
            <a:r>
              <a:rPr dirty="0" err="1"/>
              <a:t>i</a:t>
            </a:r>
            <a:r>
              <a:rPr dirty="0"/>
              <a:t> = </a:t>
            </a:r>
            <a:r>
              <a:rPr dirty="0" err="1"/>
              <a:t>i</a:t>
            </a:r>
            <a:r>
              <a:rPr dirty="0"/>
              <a:t> - 1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    A[i+1] = key</a:t>
            </a:r>
          </a:p>
        </p:txBody>
      </p:sp>
    </p:spTree>
    <p:extLst>
      <p:ext uri="{BB962C8B-B14F-4D97-AF65-F5344CB8AC3E}">
        <p14:creationId xmlns:p14="http://schemas.microsoft.com/office/powerpoint/2010/main" val="1362538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Efficiency: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99660" y="1570987"/>
            <a:ext cx="10946908" cy="3915413"/>
          </a:xfrm>
        </p:spPr>
        <p:txBody>
          <a:bodyPr>
            <a:normAutofit/>
          </a:bodyPr>
          <a:lstStyle/>
          <a:p>
            <a:r>
              <a:rPr lang="en-US" sz="1800" dirty="0"/>
              <a:t>Why don’t we just use a super computer?</a:t>
            </a:r>
          </a:p>
          <a:p>
            <a:r>
              <a:rPr lang="en-US" sz="1800" dirty="0"/>
              <a:t>What if the computer is infinitely fast and the memory is free?</a:t>
            </a:r>
          </a:p>
          <a:p>
            <a:pPr marL="0" indent="0">
              <a:buNone/>
            </a:pPr>
            <a:r>
              <a:rPr lang="en-US" sz="2400" b="1" dirty="0"/>
              <a:t>Measures of efficiency:</a:t>
            </a:r>
            <a:r>
              <a:rPr lang="en-US" sz="1800" dirty="0"/>
              <a:t>	</a:t>
            </a:r>
          </a:p>
          <a:p>
            <a:r>
              <a:rPr lang="en-US" sz="1800" b="1" dirty="0"/>
              <a:t>Space complexity:</a:t>
            </a:r>
            <a:r>
              <a:rPr lang="en-US" sz="1800" dirty="0"/>
              <a:t>	</a:t>
            </a:r>
          </a:p>
          <a:p>
            <a:pPr marL="400050" lvl="1" indent="0">
              <a:buNone/>
            </a:pPr>
            <a:r>
              <a:rPr lang="en-US" sz="1800" dirty="0"/>
              <a:t>The amount of storage needed to solve the problem.	</a:t>
            </a:r>
          </a:p>
          <a:p>
            <a:pPr marL="400050" lvl="1" indent="0">
              <a:buNone/>
            </a:pPr>
            <a:r>
              <a:rPr lang="en-US" sz="1800" dirty="0"/>
              <a:t>Typically expressed as a function of the input size (number of bits to represent input).</a:t>
            </a:r>
          </a:p>
          <a:p>
            <a:r>
              <a:rPr lang="en-US" sz="1800" b="1" dirty="0"/>
              <a:t>Time complexity:	</a:t>
            </a:r>
          </a:p>
          <a:p>
            <a:pPr marL="400050" lvl="1" indent="0">
              <a:buNone/>
            </a:pPr>
            <a:r>
              <a:rPr lang="en-US" sz="1800" dirty="0"/>
              <a:t>The amount of time needed to solve the problem?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21562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700790" y="775594"/>
            <a:ext cx="5075649" cy="1447313"/>
          </a:xfrm>
        </p:spPr>
        <p:txBody>
          <a:bodyPr/>
          <a:lstStyle/>
          <a:p>
            <a:r>
              <a:rPr lang="en-US" altLang="en-US" dirty="0"/>
              <a:t>Machine-dependent time: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957010" y="1567553"/>
            <a:ext cx="6316311" cy="372289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What is insertion sort’s worst-case time?</a:t>
            </a:r>
          </a:p>
          <a:p>
            <a:pPr marL="0" indent="0">
              <a:buNone/>
            </a:pPr>
            <a:r>
              <a:rPr lang="en-US" sz="2400" dirty="0"/>
              <a:t>It depends on the speed of our computer:</a:t>
            </a:r>
          </a:p>
          <a:p>
            <a:pPr lvl="1"/>
            <a:r>
              <a:rPr lang="en-US" sz="2400" dirty="0"/>
              <a:t>relative speed (on the same machine).</a:t>
            </a:r>
          </a:p>
          <a:p>
            <a:pPr lvl="1"/>
            <a:r>
              <a:rPr lang="en-US" sz="2400" dirty="0"/>
              <a:t>absolute speed (on different machines).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BIG IDEA:</a:t>
            </a:r>
          </a:p>
          <a:p>
            <a:r>
              <a:rPr lang="en-US" sz="2400" dirty="0"/>
              <a:t>Ignore machine-dependent constants.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60185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99660" y="546616"/>
            <a:ext cx="8267877" cy="2171700"/>
          </a:xfrm>
        </p:spPr>
        <p:txBody>
          <a:bodyPr>
            <a:normAutofit/>
          </a:bodyPr>
          <a:lstStyle/>
          <a:p>
            <a:r>
              <a:rPr lang="en-US" altLang="en-US" sz="3200" dirty="0">
                <a:solidFill>
                  <a:srgbClr val="002060"/>
                </a:solidFill>
                <a:latin typeface="+mn-lt"/>
              </a:rPr>
              <a:t>Solution: Machine Independent Analysis</a:t>
            </a:r>
          </a:p>
        </p:txBody>
      </p:sp>
      <p:sp>
        <p:nvSpPr>
          <p:cNvPr id="112643" name="Text Box 3"/>
          <p:cNvSpPr txBox="1">
            <a:spLocks noChangeArrowheads="1"/>
          </p:cNvSpPr>
          <p:nvPr/>
        </p:nvSpPr>
        <p:spPr bwMode="auto">
          <a:xfrm>
            <a:off x="699660" y="1267326"/>
            <a:ext cx="7467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n-lt"/>
              </a:rPr>
              <a:t>We assume that every basic operation takes constant time:</a:t>
            </a:r>
          </a:p>
        </p:txBody>
      </p:sp>
      <p:sp>
        <p:nvSpPr>
          <p:cNvPr id="112644" name="Text Box 4"/>
          <p:cNvSpPr txBox="1">
            <a:spLocks noChangeArrowheads="1"/>
          </p:cNvSpPr>
          <p:nvPr/>
        </p:nvSpPr>
        <p:spPr bwMode="auto">
          <a:xfrm>
            <a:off x="1156860" y="1648327"/>
            <a:ext cx="8096250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n-lt"/>
              </a:rPr>
              <a:t>Example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n-lt"/>
              </a:rPr>
              <a:t>Basic Operations:</a:t>
            </a:r>
          </a:p>
          <a:p>
            <a:pPr lvl="1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latin typeface="+mn-lt"/>
              </a:rPr>
              <a:t>Addition, Subtraction, Multiplication, Memory Access</a:t>
            </a:r>
          </a:p>
          <a:p>
            <a:pPr lvl="1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000" dirty="0">
              <a:solidFill>
                <a:srgbClr val="FF3300"/>
              </a:solidFill>
              <a:latin typeface="+mn-lt"/>
            </a:endParaRPr>
          </a:p>
        </p:txBody>
      </p:sp>
      <p:sp>
        <p:nvSpPr>
          <p:cNvPr id="112645" name="Text Box 5"/>
          <p:cNvSpPr txBox="1">
            <a:spLocks noChangeArrowheads="1"/>
          </p:cNvSpPr>
          <p:nvPr/>
        </p:nvSpPr>
        <p:spPr bwMode="auto">
          <a:xfrm>
            <a:off x="1233060" y="2943726"/>
            <a:ext cx="73914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n-lt"/>
              </a:rPr>
              <a:t>Non-basic Operations:  </a:t>
            </a:r>
          </a:p>
          <a:p>
            <a:pPr lvl="1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latin typeface="+mn-lt"/>
              </a:rPr>
              <a:t>Sorting, Searching </a:t>
            </a:r>
          </a:p>
        </p:txBody>
      </p:sp>
      <p:sp>
        <p:nvSpPr>
          <p:cNvPr id="112646" name="Text Box 6"/>
          <p:cNvSpPr txBox="1">
            <a:spLocks noChangeArrowheads="1"/>
          </p:cNvSpPr>
          <p:nvPr/>
        </p:nvSpPr>
        <p:spPr bwMode="auto">
          <a:xfrm>
            <a:off x="775859" y="4162927"/>
            <a:ext cx="9057951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n-lt"/>
              </a:rPr>
              <a:t>Efficiency of an algorithm is the number of basic operations it performs.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n-lt"/>
              </a:rPr>
              <a:t>We do not distinguish between the basic operations.</a:t>
            </a:r>
          </a:p>
        </p:txBody>
      </p:sp>
    </p:spTree>
    <p:extLst>
      <p:ext uri="{BB962C8B-B14F-4D97-AF65-F5344CB8AC3E}">
        <p14:creationId xmlns:p14="http://schemas.microsoft.com/office/powerpoint/2010/main" val="3733030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3" grpId="0" autoUpdateAnimBg="0"/>
      <p:bldP spid="112644" grpId="0" autoUpdateAnimBg="0"/>
      <p:bldP spid="112645" grpId="0" autoUpdateAnimBg="0"/>
      <p:bldP spid="11264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774032" y="689811"/>
            <a:ext cx="640080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+mn-lt"/>
              </a:rPr>
              <a:t>Subroutine 1 uses ? basic operation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+mn-lt"/>
              </a:rPr>
              <a:t>Subroutine 2 uses ? basic operations</a:t>
            </a:r>
          </a:p>
        </p:txBody>
      </p:sp>
      <p:sp>
        <p:nvSpPr>
          <p:cNvPr id="113667" name="Text Box 3"/>
          <p:cNvSpPr txBox="1">
            <a:spLocks noChangeArrowheads="1"/>
          </p:cNvSpPr>
          <p:nvPr/>
        </p:nvSpPr>
        <p:spPr bwMode="auto">
          <a:xfrm>
            <a:off x="774032" y="1680411"/>
            <a:ext cx="6400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+mn-lt"/>
              </a:rPr>
              <a:t>Subroutine ? is more efficient.</a:t>
            </a:r>
          </a:p>
        </p:txBody>
      </p:sp>
      <p:sp>
        <p:nvSpPr>
          <p:cNvPr id="113668" name="Text Box 4"/>
          <p:cNvSpPr txBox="1">
            <a:spLocks noChangeArrowheads="1"/>
          </p:cNvSpPr>
          <p:nvPr/>
        </p:nvSpPr>
        <p:spPr bwMode="auto">
          <a:xfrm>
            <a:off x="774032" y="2137611"/>
            <a:ext cx="6248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+mn-lt"/>
              </a:rPr>
              <a:t>This measure is good for all large input sizes</a:t>
            </a:r>
          </a:p>
        </p:txBody>
      </p:sp>
      <p:sp>
        <p:nvSpPr>
          <p:cNvPr id="113669" name="Text Box 5"/>
          <p:cNvSpPr txBox="1">
            <a:spLocks noChangeArrowheads="1"/>
          </p:cNvSpPr>
          <p:nvPr/>
        </p:nvSpPr>
        <p:spPr bwMode="auto">
          <a:xfrm>
            <a:off x="774031" y="2594811"/>
            <a:ext cx="7856621" cy="2446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+mn-lt"/>
              </a:rPr>
              <a:t>In fact, we will not worry about the exact values, but will look at ``broad classes’ of values, or the growth rates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+mn-lt"/>
              </a:rPr>
              <a:t>Let there be </a:t>
            </a:r>
            <a:r>
              <a:rPr lang="en-US" altLang="en-US" sz="1800" b="1" i="1" dirty="0">
                <a:solidFill>
                  <a:schemeClr val="bg1"/>
                </a:solidFill>
                <a:latin typeface="+mn-lt"/>
              </a:rPr>
              <a:t>n</a:t>
            </a:r>
            <a:r>
              <a:rPr lang="en-US" altLang="en-US" sz="1800" b="1" dirty="0">
                <a:solidFill>
                  <a:schemeClr val="bg1"/>
                </a:solidFill>
                <a:latin typeface="+mn-lt"/>
              </a:rPr>
              <a:t> inputs.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+mn-lt"/>
              </a:rPr>
              <a:t>If an algorithm needs </a:t>
            </a:r>
            <a:r>
              <a:rPr lang="en-US" altLang="en-US" sz="1800" b="1" i="1" dirty="0">
                <a:solidFill>
                  <a:schemeClr val="bg1"/>
                </a:solidFill>
                <a:latin typeface="+mn-lt"/>
              </a:rPr>
              <a:t>n</a:t>
            </a:r>
            <a:r>
              <a:rPr lang="en-US" altLang="en-US" sz="1800" b="1" dirty="0">
                <a:solidFill>
                  <a:schemeClr val="bg1"/>
                </a:solidFill>
                <a:latin typeface="+mn-lt"/>
              </a:rPr>
              <a:t> basic operations and another needs </a:t>
            </a:r>
            <a:r>
              <a:rPr lang="en-US" altLang="en-US" sz="1800" b="1" i="1" dirty="0">
                <a:solidFill>
                  <a:schemeClr val="bg1"/>
                </a:solidFill>
                <a:latin typeface="+mn-lt"/>
              </a:rPr>
              <a:t>2n</a:t>
            </a:r>
            <a:r>
              <a:rPr lang="en-US" altLang="en-US" sz="1800" b="1" dirty="0">
                <a:solidFill>
                  <a:schemeClr val="bg1"/>
                </a:solidFill>
                <a:latin typeface="+mn-lt"/>
              </a:rPr>
              <a:t> basic operations, we will consider them to be in the </a:t>
            </a:r>
            <a:r>
              <a:rPr lang="en-US" altLang="en-US" sz="1800" b="1" i="1" dirty="0">
                <a:solidFill>
                  <a:schemeClr val="bg1"/>
                </a:solidFill>
                <a:latin typeface="+mn-lt"/>
              </a:rPr>
              <a:t>same efficiency category</a:t>
            </a:r>
            <a:r>
              <a:rPr lang="en-US" altLang="en-US" sz="1800" b="1" dirty="0">
                <a:solidFill>
                  <a:schemeClr val="bg1"/>
                </a:solidFill>
                <a:latin typeface="+mn-lt"/>
              </a:rPr>
              <a:t>.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+mn-lt"/>
              </a:rPr>
              <a:t>However, we distinguish between </a:t>
            </a:r>
            <a:r>
              <a:rPr lang="en-US" altLang="en-US" sz="1800" b="1" i="1" dirty="0" err="1">
                <a:solidFill>
                  <a:schemeClr val="bg1"/>
                </a:solidFill>
                <a:latin typeface="+mn-lt"/>
              </a:rPr>
              <a:t>exp</a:t>
            </a:r>
            <a:r>
              <a:rPr lang="en-US" altLang="en-US" sz="1800" b="1" i="1" dirty="0">
                <a:solidFill>
                  <a:schemeClr val="bg1"/>
                </a:solidFill>
                <a:latin typeface="+mn-lt"/>
              </a:rPr>
              <a:t>(n), n, log(n)</a:t>
            </a:r>
          </a:p>
        </p:txBody>
      </p:sp>
    </p:spTree>
    <p:extLst>
      <p:ext uri="{BB962C8B-B14F-4D97-AF65-F5344CB8AC3E}">
        <p14:creationId xmlns:p14="http://schemas.microsoft.com/office/powerpoint/2010/main" val="1197929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36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36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36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36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7" grpId="0" autoUpdateAnimBg="0"/>
      <p:bldP spid="113668" grpId="0" autoUpdateAnimBg="0"/>
      <p:bldP spid="113669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582440" y="529962"/>
            <a:ext cx="3847847" cy="2171700"/>
          </a:xfrm>
        </p:spPr>
        <p:txBody>
          <a:bodyPr/>
          <a:lstStyle/>
          <a:p>
            <a:pPr eaLnBrk="1" hangingPunct="1"/>
            <a:r>
              <a:rPr lang="en-US" altLang="en-US" dirty="0"/>
              <a:t>Complexity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>
          <a:xfrm>
            <a:off x="582440" y="1214759"/>
            <a:ext cx="11027119" cy="3617669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z="2600" b="1" dirty="0"/>
              <a:t>Complexity</a:t>
            </a:r>
            <a:r>
              <a:rPr lang="en-US" altLang="en-US" sz="2600" dirty="0"/>
              <a:t> is the </a:t>
            </a:r>
            <a:r>
              <a:rPr lang="en-US" altLang="en-US" sz="2600" u="sng" dirty="0"/>
              <a:t>number of steps</a:t>
            </a:r>
            <a:r>
              <a:rPr lang="en-US" altLang="en-US" sz="2600" dirty="0"/>
              <a:t> required to solve a problem.</a:t>
            </a:r>
          </a:p>
          <a:p>
            <a:pPr eaLnBrk="1" hangingPunct="1"/>
            <a:endParaRPr lang="en-US" altLang="en-US" sz="2600" dirty="0"/>
          </a:p>
          <a:p>
            <a:pPr eaLnBrk="1" hangingPunct="1"/>
            <a:r>
              <a:rPr lang="en-US" altLang="en-US" sz="2600" dirty="0"/>
              <a:t>The goal is to find the </a:t>
            </a:r>
            <a:r>
              <a:rPr lang="en-US" altLang="en-US" sz="2600" u="sng" dirty="0">
                <a:solidFill>
                  <a:srgbClr val="FF3300"/>
                </a:solidFill>
              </a:rPr>
              <a:t>best algorithm</a:t>
            </a:r>
            <a:r>
              <a:rPr lang="en-US" altLang="en-US" sz="2600" dirty="0"/>
              <a:t> to solve the problem with a </a:t>
            </a:r>
            <a:r>
              <a:rPr lang="en-US" altLang="en-US" sz="2600" u="sng" dirty="0">
                <a:solidFill>
                  <a:srgbClr val="FF3300"/>
                </a:solidFill>
              </a:rPr>
              <a:t>less number of steps</a:t>
            </a:r>
          </a:p>
          <a:p>
            <a:pPr eaLnBrk="1" hangingPunct="1"/>
            <a:endParaRPr lang="en-US" altLang="en-US" sz="2600" u="sng" dirty="0">
              <a:solidFill>
                <a:srgbClr val="FF3300"/>
              </a:solidFill>
            </a:endParaRPr>
          </a:p>
          <a:p>
            <a:r>
              <a:rPr lang="en-US" altLang="en-US" sz="2600" u="sng" dirty="0">
                <a:solidFill>
                  <a:schemeClr val="tx1"/>
                </a:solidFill>
              </a:rPr>
              <a:t>The time needed by an algorithm,  expressed as a function of the size of the problem (it solves), is called the (time) complexity of the algorithm T(n)</a:t>
            </a:r>
          </a:p>
          <a:p>
            <a:pPr eaLnBrk="1" hangingPunct="1"/>
            <a:endParaRPr lang="en-US" altLang="en-US" sz="2600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238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75274-932C-28A9-D114-5EC4B10D3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>
            <a:extLst>
              <a:ext uri="{FF2B5EF4-FFF2-40B4-BE49-F238E27FC236}">
                <a16:creationId xmlns:a16="http://schemas.microsoft.com/office/drawing/2014/main" id="{B113EF46-0574-AB5D-65E1-8F48E799E6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990" y="727468"/>
            <a:ext cx="5571673" cy="1447313"/>
          </a:xfrm>
        </p:spPr>
        <p:txBody>
          <a:bodyPr/>
          <a:lstStyle/>
          <a:p>
            <a:pPr eaLnBrk="1" hangingPunct="1"/>
            <a:r>
              <a:rPr lang="en-US" altLang="en-US" dirty="0"/>
              <a:t>Basic idea: counting operations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D2D3A484-FBF1-68E9-87C0-B702397D1B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4295" y="1451123"/>
            <a:ext cx="7507705" cy="5190309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Running Time: Number of primitive steps that are executed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600" dirty="0"/>
              <a:t>most statements roughly require the same amount of time</a:t>
            </a:r>
          </a:p>
          <a:p>
            <a:pPr lvl="2" eaLnBrk="1" hangingPunct="1"/>
            <a:r>
              <a:rPr lang="en-US" altLang="en-US" sz="1600" b="1" dirty="0">
                <a:solidFill>
                  <a:srgbClr val="A50021"/>
                </a:solidFill>
              </a:rPr>
              <a:t>y = m * x + b</a:t>
            </a:r>
          </a:p>
          <a:p>
            <a:pPr lvl="2" eaLnBrk="1" hangingPunct="1"/>
            <a:r>
              <a:rPr lang="en-US" altLang="en-US" sz="1600" b="1" dirty="0">
                <a:solidFill>
                  <a:srgbClr val="A50021"/>
                </a:solidFill>
              </a:rPr>
              <a:t>c = 5 / 9 * (t - 32 )</a:t>
            </a:r>
          </a:p>
          <a:p>
            <a:pPr lvl="2" eaLnBrk="1" hangingPunct="1"/>
            <a:r>
              <a:rPr lang="en-US" altLang="en-US" sz="1600" b="1" dirty="0">
                <a:solidFill>
                  <a:srgbClr val="A50021"/>
                </a:solidFill>
              </a:rPr>
              <a:t>z = f(x) + g(y)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Each algorithm performs a sequence of basic operations:</a:t>
            </a:r>
          </a:p>
          <a:p>
            <a:pPr lvl="1" eaLnBrk="1" hangingPunct="1">
              <a:lnSpc>
                <a:spcPct val="70000"/>
              </a:lnSpc>
            </a:pPr>
            <a:r>
              <a:rPr lang="en-US" altLang="en-US" sz="1800" dirty="0"/>
              <a:t>Arithmetic:        (low + high)/2</a:t>
            </a:r>
          </a:p>
          <a:p>
            <a:pPr lvl="1" eaLnBrk="1" hangingPunct="1">
              <a:lnSpc>
                <a:spcPct val="70000"/>
              </a:lnSpc>
            </a:pPr>
            <a:r>
              <a:rPr lang="en-US" altLang="en-US" sz="1800" dirty="0"/>
              <a:t>Comparison:     if ( x &gt; 0 ) … </a:t>
            </a:r>
          </a:p>
          <a:p>
            <a:pPr lvl="1" eaLnBrk="1" hangingPunct="1">
              <a:lnSpc>
                <a:spcPct val="70000"/>
              </a:lnSpc>
            </a:pPr>
            <a:r>
              <a:rPr lang="en-US" altLang="en-US" sz="1800" dirty="0"/>
              <a:t>Assignment:      temp = x</a:t>
            </a:r>
          </a:p>
          <a:p>
            <a:pPr lvl="1" eaLnBrk="1" hangingPunct="1">
              <a:lnSpc>
                <a:spcPct val="70000"/>
              </a:lnSpc>
            </a:pPr>
            <a:r>
              <a:rPr lang="en-US" altLang="en-US" sz="1800" dirty="0"/>
              <a:t>Branching:         while ( true ) { … }</a:t>
            </a:r>
          </a:p>
          <a:p>
            <a:pPr lvl="1" eaLnBrk="1" hangingPunct="1">
              <a:lnSpc>
                <a:spcPct val="70000"/>
              </a:lnSpc>
            </a:pPr>
            <a:r>
              <a:rPr lang="en-US" altLang="en-US" sz="18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59699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5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5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5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5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6791D-CBAF-4499-B8CC-64ED96046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06C194EE-3FF8-EE62-7802-50CD5AE9FD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25025" y="797130"/>
            <a:ext cx="5099448" cy="1456511"/>
          </a:xfrm>
        </p:spPr>
        <p:txBody>
          <a:bodyPr/>
          <a:lstStyle/>
          <a:p>
            <a:pPr eaLnBrk="1" hangingPunct="1"/>
            <a:r>
              <a:rPr lang="en-US" altLang="en-US" dirty="0"/>
              <a:t>Basic idea: counting operations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F228B727-8A54-5697-31B6-AAD42380BA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63578" y="2894898"/>
            <a:ext cx="10186737" cy="4082527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US" sz="1800" dirty="0"/>
              <a:t>Idea: count the number of basic operations performed on the input.</a:t>
            </a:r>
          </a:p>
          <a:p>
            <a:pPr eaLnBrk="1" hangingPunct="1"/>
            <a:endParaRPr lang="en-US" altLang="en-US" sz="1800" dirty="0"/>
          </a:p>
          <a:p>
            <a:pPr marL="0" indent="0" eaLnBrk="1" hangingPunct="1">
              <a:buNone/>
            </a:pPr>
            <a:r>
              <a:rPr lang="en-US" altLang="en-US" sz="1800" b="1" dirty="0"/>
              <a:t>Difficulties:</a:t>
            </a:r>
          </a:p>
          <a:p>
            <a:pPr lvl="1" eaLnBrk="1" hangingPunct="1"/>
            <a:r>
              <a:rPr lang="en-US" altLang="en-US" sz="1800" dirty="0"/>
              <a:t>Which operations are basic?</a:t>
            </a:r>
          </a:p>
          <a:p>
            <a:pPr lvl="1" eaLnBrk="1" hangingPunct="1"/>
            <a:r>
              <a:rPr lang="en-US" altLang="en-US" sz="1800" dirty="0"/>
              <a:t>Not all operations take the same amount of time.</a:t>
            </a:r>
          </a:p>
          <a:p>
            <a:pPr lvl="1" eaLnBrk="1" hangingPunct="1"/>
            <a:r>
              <a:rPr lang="en-US" altLang="en-US" sz="1800" dirty="0"/>
              <a:t>Operations take different times with different hardware or compilers</a:t>
            </a:r>
          </a:p>
        </p:txBody>
      </p:sp>
    </p:spTree>
    <p:extLst>
      <p:ext uri="{BB962C8B-B14F-4D97-AF65-F5344CB8AC3E}">
        <p14:creationId xmlns:p14="http://schemas.microsoft.com/office/powerpoint/2010/main" val="1563963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31642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/>
              <a:t>Homework</a:t>
            </a:r>
            <a:r>
              <a:rPr lang="en-US" sz="3600" dirty="0"/>
              <a:t>: </a:t>
            </a:r>
            <a:r>
              <a:rPr sz="3600" dirty="0"/>
              <a:t>Algorithm Detective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sz="2800" dirty="0"/>
              <a:t>Choose 3 simple algorithms.</a:t>
            </a:r>
          </a:p>
          <a:p>
            <a:pPr>
              <a:spcAft>
                <a:spcPts val="1200"/>
              </a:spcAft>
              <a:defRPr sz="1800"/>
            </a:pPr>
            <a:r>
              <a:rPr sz="2000" dirty="0"/>
              <a:t>For each identify:</a:t>
            </a:r>
          </a:p>
          <a:p>
            <a:pPr>
              <a:spcAft>
                <a:spcPts val="1200"/>
              </a:spcAft>
              <a:defRPr sz="1800"/>
            </a:pPr>
            <a:r>
              <a:rPr sz="2000" dirty="0"/>
              <a:t>• Problem, inputs, outputs</a:t>
            </a:r>
          </a:p>
          <a:p>
            <a:pPr>
              <a:spcAft>
                <a:spcPts val="1200"/>
              </a:spcAft>
              <a:defRPr sz="1800"/>
            </a:pPr>
            <a:r>
              <a:rPr sz="2000" dirty="0"/>
              <a:t>• Assumptions / preconditions</a:t>
            </a:r>
          </a:p>
          <a:p>
            <a:pPr>
              <a:spcAft>
                <a:spcPts val="1200"/>
              </a:spcAft>
              <a:defRPr sz="1800"/>
            </a:pPr>
            <a:r>
              <a:rPr sz="2000" dirty="0"/>
              <a:t>• Correctness claim</a:t>
            </a:r>
          </a:p>
          <a:p>
            <a:pPr>
              <a:spcAft>
                <a:spcPts val="1200"/>
              </a:spcAft>
              <a:defRPr sz="1800"/>
            </a:pPr>
            <a:r>
              <a:rPr sz="2000" dirty="0"/>
              <a:t>• A counterexample if incorrect</a:t>
            </a:r>
          </a:p>
          <a:p>
            <a:pPr>
              <a:spcAft>
                <a:spcPts val="1200"/>
              </a:spcAft>
              <a:defRPr sz="1800"/>
            </a:pPr>
            <a:r>
              <a:rPr sz="2000" dirty="0"/>
              <a:t>• Informal correctness argument</a:t>
            </a:r>
          </a:p>
          <a:p>
            <a:pPr>
              <a:spcAft>
                <a:spcPts val="1200"/>
              </a:spcAft>
              <a:defRPr sz="1800"/>
            </a:pPr>
            <a:r>
              <a:rPr sz="2000" dirty="0"/>
              <a:t>• Behavior as input grows</a:t>
            </a:r>
          </a:p>
        </p:txBody>
      </p:sp>
    </p:spTree>
    <p:extLst>
      <p:ext uri="{BB962C8B-B14F-4D97-AF65-F5344CB8AC3E}">
        <p14:creationId xmlns:p14="http://schemas.microsoft.com/office/powerpoint/2010/main" val="4093892475"/>
      </p:ext>
    </p:extLst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" id="{A3F6A081-B6B6-4005-A8B4-E4DB51F0D83A}" vid="{06B4A534-080E-4F92-B8E7-6D90CB76FF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2346</TotalTime>
  <Words>591</Words>
  <Application>Microsoft Office PowerPoint</Application>
  <PresentationFormat>Widescreen</PresentationFormat>
  <Paragraphs>81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JasmineUPC</vt:lpstr>
      <vt:lpstr>Raleway</vt:lpstr>
      <vt:lpstr>School Days</vt:lpstr>
      <vt:lpstr>Design &amp; Analysis of Algorithms </vt:lpstr>
      <vt:lpstr>PowerPoint Presentation</vt:lpstr>
      <vt:lpstr>Efficiency:</vt:lpstr>
      <vt:lpstr>Machine-dependent time:</vt:lpstr>
      <vt:lpstr>Solution: Machine Independent Analysis</vt:lpstr>
      <vt:lpstr>PowerPoint Presentation</vt:lpstr>
      <vt:lpstr>Complexity</vt:lpstr>
      <vt:lpstr>Basic idea: counting operations</vt:lpstr>
      <vt:lpstr>Basic idea: counting operations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Asra  Masood</dc:creator>
  <cp:lastModifiedBy>DELL</cp:lastModifiedBy>
  <cp:revision>47</cp:revision>
  <dcterms:created xsi:type="dcterms:W3CDTF">2026-09-08T04:00:12Z</dcterms:created>
  <dcterms:modified xsi:type="dcterms:W3CDTF">2026-09-10T16:54:23Z</dcterms:modified>
</cp:coreProperties>
</file>